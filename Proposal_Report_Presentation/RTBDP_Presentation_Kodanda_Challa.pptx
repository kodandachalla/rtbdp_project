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270" r:id="rId3"/>
    <p:sldId id="259" r:id="rId4"/>
    <p:sldId id="258" r:id="rId5"/>
    <p:sldId id="260" r:id="rId6"/>
    <p:sldId id="261" r:id="rId7"/>
    <p:sldId id="262" r:id="rId8"/>
    <p:sldId id="263" r:id="rId9"/>
    <p:sldId id="276" r:id="rId10"/>
    <p:sldId id="277" r:id="rId11"/>
    <p:sldId id="279" r:id="rId12"/>
    <p:sldId id="266" r:id="rId13"/>
    <p:sldId id="264" r:id="rId14"/>
    <p:sldId id="275" r:id="rId15"/>
    <p:sldId id="278" r:id="rId16"/>
    <p:sldId id="268" r:id="rId17"/>
    <p:sldId id="269"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3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2112" autoAdjust="0"/>
  </p:normalViewPr>
  <p:slideViewPr>
    <p:cSldViewPr snapToGrid="0" snapToObjects="1">
      <p:cViewPr varScale="1">
        <p:scale>
          <a:sx n="89" d="100"/>
          <a:sy n="89" d="100"/>
        </p:scale>
        <p:origin x="30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D7FEC07-6762-C611-AE1A-4155134977A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83836A7-584C-7ABC-49C5-E93F47AC31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320A74-E58F-4B13-94F4-DA56DB9AFBA1}" type="datetimeFigureOut">
              <a:rPr lang="en-IN" smtClean="0"/>
              <a:t>30-06-2026</a:t>
            </a:fld>
            <a:endParaRPr lang="en-IN"/>
          </a:p>
        </p:txBody>
      </p:sp>
      <p:sp>
        <p:nvSpPr>
          <p:cNvPr id="4" name="Footer Placeholder 3">
            <a:extLst>
              <a:ext uri="{FF2B5EF4-FFF2-40B4-BE49-F238E27FC236}">
                <a16:creationId xmlns:a16="http://schemas.microsoft.com/office/drawing/2014/main" id="{A2185CFC-D2CD-E6FA-7B87-DD42397187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7812129-A99D-D97F-9ABD-3569C242DB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01C268-80BC-4F76-882E-E27C5278325E}" type="slidenum">
              <a:rPr lang="en-IN" smtClean="0"/>
              <a:t>‹#›</a:t>
            </a:fld>
            <a:endParaRPr lang="en-IN"/>
          </a:p>
        </p:txBody>
      </p:sp>
    </p:spTree>
    <p:extLst>
      <p:ext uri="{BB962C8B-B14F-4D97-AF65-F5344CB8AC3E}">
        <p14:creationId xmlns:p14="http://schemas.microsoft.com/office/powerpoint/2010/main" val="4034809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013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[0:00–0:30] Hello, I'm Kodanda Challa. My project watches live crypto trades and spots cheating within seconds. It's built from Kafka, Flink, PostgreSQL and Grafana — and the whole thing starts with one Docker command. I'll explain the problem, show how it works with simple diagrams, then run a demo.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Crypto markets run 24/7 with very little regulation — making them a target for manipulation. We need real-time detection.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[3:00–4:00] All data comes from one place: Binance's free public trade feed — no API key. One always-open WebSocket gives every trade for all six coins. Each message is tiny: coin, price, amount, and the exact time. Three things matter: it's fast and never stops, there's plenty of it, and it can arrive slightly out of order — which the system is built to handle.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[2:00–3:00] Here's the whole idea in six steps. Get the data from Binance, collect it into Kafka, store the stream, analyse it with Flink, save results to a database, and show them in Grafana. Live trades enter on the left; a live dashboard comes out on the right. Each box is a standard tool.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[4:00–5:15] This is the architecture, and it follows the standard course shape: collect into Kafka, process with Flink and save to a database, then the dashboard reads the database. Every box is a Docker container on one private network — they find each other by name, for example Flink reaches the database just by using the name 'postgres'. Kafka runs in modern KRaft mode, so there's no ZooKeeper.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[5:15–6:15] This is the part I'm most happy with. The only thing you install is Docker. Then a single command — docker compose up -d --build — downloads, builds and launches all six parts in the correct order. Health checks make sure Flink and the producer wait until Kafka and the database are ready. To stop, you run docker compose down. That makes it very easy for anyone to try.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[6:15–7:15] Following one trade: Binance sends it, the collector puts it into Kafka on that coin's lane, Flink reads it using the trade's own timestamp, updates the candles and checks the three patterns, then saves a candle and any alert to the database. Grafana asks the database for fresh data every 5 seconds and redraws. This loop runs continuously.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[7:15–8:15] First key idea. Inside Kafka the stream is split into six lanes, called partitions — one per coin. This keeps each coin's trades in the right order and lets the work run in parallel. It also means we can speed the system up later just by adding workers, up to one per lane, without changing any code.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Key message: key_by creates 30 isolated state spaces. BTCUSDT state NEVER mixes with DOGEUSDT.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pattern. For the exam: mention ListState vs ValueState, why bounded at 60 entries, key isolation.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23907-509E-3941-9072-23847A42E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01291-D57D-490A-48D3-5E04D1D0A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20945-C006-A1BC-0ECB-4A429C6FB77E}"/>
              </a:ext>
            </a:extLst>
          </p:cNvPr>
          <p:cNvSpPr>
            <a:spLocks noGrp="1"/>
          </p:cNvSpPr>
          <p:nvPr>
            <p:ph type="body" idx="1"/>
          </p:nvPr>
        </p:nvSpPr>
        <p:spPr/>
        <p:txBody>
          <a:bodyPr/>
          <a:lstStyle/>
          <a:p>
            <a:r>
              <a:rPr lang="en-US" dirty="0"/>
              <a:t>Walk through the diagram. Key message: key_by creates 30 isolated state spaces. BTCUSDT state NEVER mixes with DOGEUSDT.</a:t>
            </a:r>
          </a:p>
        </p:txBody>
      </p:sp>
      <p:sp>
        <p:nvSpPr>
          <p:cNvPr id="4" name="Slide Number Placeholder 3">
            <a:extLst>
              <a:ext uri="{FF2B5EF4-FFF2-40B4-BE49-F238E27FC236}">
                <a16:creationId xmlns:a16="http://schemas.microsoft.com/office/drawing/2014/main" id="{D2B4F223-A4B4-56F7-4453-C8B3C31FB0A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18802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[10:45–11:45] Everything the user needs is on one Grafana dashboard, refreshing every 5 seconds. Five panels: live price per coin with green/red; the candle chart; volume per coin; how many alerts in the last hour; and a live table of detected cheating with time, coin, pattern and severity. Two menus at the top pick the coin and the candle size. Let me show it live now.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[8:15–9:15] Second idea. Traders read 'candles' — a candle summarises a short time as four numbers: open (first price), high, low, and close (last price). Flink groups every minute (and every 5 minutes) of trades into one candle. Crucially it uses each trade's real timestamp, not the arrival time, so a trade that arrives a little late still lands in the correct candle. That keeps results correct and repeatable.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tumbling windows, event-time, watermarks, idleness. These are the core course concepts all visible in one slide.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live. DOGE and XRP give the fastest anomaly alerts. Switch candle sizes to show the $candle_size variable working.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[14:15–15:00] Lessons. Worked well: a simple well-known design, one-command startup, and one lane per coin that keeps data tidy and easy to scale. Hard: parts start together but Kafka needs a moment, so the programs had to wait; a quiet coin once froze the others until one setting fixed it; and tuning the rules to fire fast in a short demo. Next: use Flink SQL for less code, run on a bigger cluster, and let the system learn each coin's normal behaviour automatically. Thank you.</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[15:00] That's the project: live crypto trades turned into cheating alerts on a dashboard in seconds, all started with one command. Code is in the repo. Happy to take questions. Be ready for: why Flink? why Kafka lanes? what happens if it crashes? how would you scale it? why these limits?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white diagram. Point to: Docker boundary, all 6 containers, port numbers, data flow arrows.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bg1"/>
                </a:solidFill>
              </a:defRPr>
            </a:lvl1pPr>
          </a:lstStyle>
          <a:p>
            <a:fld id="{5BCAD085-E8A6-8845-BD4E-CB4CCA059FC4}" type="datetimeFigureOut">
              <a:rPr lang="en-US" smtClean="0"/>
              <a:pPr/>
              <a:t>6/30/2026</a:t>
            </a:fld>
            <a:endParaRPr lang="en-US" dirty="0"/>
          </a:p>
        </p:txBody>
      </p:sp>
      <p:sp>
        <p:nvSpPr>
          <p:cNvPr id="3" name="Footer Placeholder 2"/>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C1FF6DA9-008F-8B48-92A6-B652298478BF}" type="slidenum">
              <a:rPr lang="en-US" smtClean="0"/>
              <a:pPr/>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74748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lab.inf.unibz.it/kodanda.challa/rtbdp-crypto-anomaly"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github.com/kodandachalla/RTBDP_Project"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Oval 2"/>
          <p:cNvSpPr/>
          <p:nvPr/>
        </p:nvSpPr>
        <p:spPr>
          <a:xfrm>
            <a:off x="777240" y="777240"/>
            <a:ext cx="292608" cy="292608"/>
          </a:xfrm>
          <a:prstGeom prst="ellipse">
            <a:avLst/>
          </a:prstGeom>
          <a:solidFill>
            <a:srgbClr val="2EE6A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4" name="TextBox 3"/>
          <p:cNvSpPr txBox="1"/>
          <p:nvPr/>
        </p:nvSpPr>
        <p:spPr>
          <a:xfrm>
            <a:off x="1188720" y="841248"/>
            <a:ext cx="7315200" cy="457200"/>
          </a:xfrm>
          <a:prstGeom prst="rect">
            <a:avLst/>
          </a:prstGeom>
          <a:noFill/>
        </p:spPr>
        <p:txBody>
          <a:bodyPr wrap="square" lIns="0" tIns="0" rIns="0" bIns="0" anchor="t">
            <a:spAutoFit/>
          </a:bodyPr>
          <a:lstStyle/>
          <a:p>
            <a:pPr algn="l">
              <a:lnSpc>
                <a:spcPct val="100000"/>
              </a:lnSpc>
              <a:spcBef>
                <a:spcPts val="0"/>
              </a:spcBef>
              <a:spcAft>
                <a:spcPts val="600"/>
              </a:spcAft>
            </a:pPr>
            <a:r>
              <a:rPr sz="1300" b="1" i="0" dirty="0">
                <a:solidFill>
                  <a:srgbClr val="9AA8BD"/>
                </a:solidFill>
                <a:latin typeface="Calibri"/>
              </a:rPr>
              <a:t>RTBDP  ·  Free University of Bozen-Bolzano</a:t>
            </a:r>
          </a:p>
        </p:txBody>
      </p:sp>
      <p:sp>
        <p:nvSpPr>
          <p:cNvPr id="5" name="TextBox 4"/>
          <p:cNvSpPr txBox="1"/>
          <p:nvPr/>
        </p:nvSpPr>
        <p:spPr>
          <a:xfrm>
            <a:off x="777240" y="1586484"/>
            <a:ext cx="10789920" cy="1828800"/>
          </a:xfrm>
          <a:prstGeom prst="rect">
            <a:avLst/>
          </a:prstGeom>
          <a:noFill/>
        </p:spPr>
        <p:txBody>
          <a:bodyPr wrap="square" lIns="0" tIns="0" rIns="0" bIns="0" anchor="t">
            <a:spAutoFit/>
          </a:bodyPr>
          <a:lstStyle/>
          <a:p>
            <a:pPr algn="l">
              <a:lnSpc>
                <a:spcPct val="105000"/>
              </a:lnSpc>
              <a:spcBef>
                <a:spcPts val="0"/>
              </a:spcBef>
              <a:spcAft>
                <a:spcPts val="600"/>
              </a:spcAft>
            </a:pPr>
            <a:r>
              <a:rPr sz="4200" b="1" i="0" dirty="0">
                <a:solidFill>
                  <a:srgbClr val="FFFFFF"/>
                </a:solidFill>
                <a:latin typeface="Cambria"/>
              </a:rPr>
              <a:t>Real-Time Crypto Market</a:t>
            </a:r>
          </a:p>
          <a:p>
            <a:pPr algn="l">
              <a:lnSpc>
                <a:spcPct val="105000"/>
              </a:lnSpc>
              <a:spcBef>
                <a:spcPts val="0"/>
              </a:spcBef>
              <a:spcAft>
                <a:spcPts val="600"/>
              </a:spcAft>
            </a:pPr>
            <a:r>
              <a:rPr sz="4200" b="1" i="0" dirty="0">
                <a:solidFill>
                  <a:srgbClr val="FFFFFF"/>
                </a:solidFill>
                <a:latin typeface="Cambria"/>
              </a:rPr>
              <a:t>Anomaly Detection </a:t>
            </a:r>
            <a:r>
              <a:rPr sz="4200" b="1" i="0" dirty="0">
                <a:solidFill>
                  <a:srgbClr val="2EE6A6"/>
                </a:solidFill>
                <a:latin typeface="Cambria"/>
              </a:rPr>
              <a:t>&amp; Dashboard</a:t>
            </a:r>
          </a:p>
        </p:txBody>
      </p:sp>
      <p:sp>
        <p:nvSpPr>
          <p:cNvPr id="6" name="TextBox 5"/>
          <p:cNvSpPr txBox="1"/>
          <p:nvPr/>
        </p:nvSpPr>
        <p:spPr>
          <a:xfrm>
            <a:off x="777240" y="3383280"/>
            <a:ext cx="10789920" cy="548640"/>
          </a:xfrm>
          <a:prstGeom prst="rect">
            <a:avLst/>
          </a:prstGeom>
          <a:noFill/>
        </p:spPr>
        <p:txBody>
          <a:bodyPr wrap="square" lIns="0" tIns="0" rIns="0" bIns="0" anchor="t">
            <a:spAutoFit/>
          </a:bodyPr>
          <a:lstStyle/>
          <a:p>
            <a:pPr algn="l">
              <a:lnSpc>
                <a:spcPct val="100000"/>
              </a:lnSpc>
              <a:spcBef>
                <a:spcPts val="0"/>
              </a:spcBef>
              <a:spcAft>
                <a:spcPts val="600"/>
              </a:spcAft>
            </a:pPr>
            <a:r>
              <a:rPr sz="1600" b="0" i="1" dirty="0">
                <a:solidFill>
                  <a:srgbClr val="9AA8BD"/>
                </a:solidFill>
                <a:latin typeface="Calibri"/>
              </a:rPr>
              <a:t>Spotting cheating in live crypto trading — shown on a dashboard in seconds</a:t>
            </a:r>
          </a:p>
        </p:txBody>
      </p:sp>
      <p:sp>
        <p:nvSpPr>
          <p:cNvPr id="7" name="TextBox 6"/>
          <p:cNvSpPr txBox="1"/>
          <p:nvPr/>
        </p:nvSpPr>
        <p:spPr>
          <a:xfrm>
            <a:off x="777240" y="5989320"/>
            <a:ext cx="10789920" cy="457200"/>
          </a:xfrm>
          <a:prstGeom prst="rect">
            <a:avLst/>
          </a:prstGeom>
          <a:noFill/>
        </p:spPr>
        <p:txBody>
          <a:bodyPr wrap="square" lIns="0" tIns="0" rIns="0" bIns="0" anchor="t">
            <a:spAutoFit/>
          </a:bodyPr>
          <a:lstStyle/>
          <a:p>
            <a:pPr algn="l">
              <a:lnSpc>
                <a:spcPct val="100000"/>
              </a:lnSpc>
              <a:spcBef>
                <a:spcPts val="0"/>
              </a:spcBef>
              <a:spcAft>
                <a:spcPts val="600"/>
              </a:spcAft>
            </a:pPr>
            <a:r>
              <a:rPr sz="1400" b="1" i="0">
                <a:solidFill>
                  <a:srgbClr val="EAF0F8"/>
                </a:solidFill>
                <a:latin typeface="Calibri"/>
              </a:rPr>
              <a:t>Kodanda Challa</a:t>
            </a:r>
            <a:r>
              <a:rPr sz="1400" b="0" i="0">
                <a:solidFill>
                  <a:srgbClr val="9AA8BD"/>
                </a:solidFill>
                <a:latin typeface="Calibri"/>
              </a:rPr>
              <a:t>      Real-Time Big Data Processing  ·  2025–2026</a:t>
            </a:r>
          </a:p>
        </p:txBody>
      </p:sp>
      <p:sp>
        <p:nvSpPr>
          <p:cNvPr id="8" name="TextBox 7"/>
          <p:cNvSpPr txBox="1"/>
          <p:nvPr/>
        </p:nvSpPr>
        <p:spPr>
          <a:xfrm>
            <a:off x="777240" y="4314322"/>
            <a:ext cx="10789920" cy="446276"/>
          </a:xfrm>
          <a:prstGeom prst="rect">
            <a:avLst/>
          </a:prstGeom>
          <a:noFill/>
        </p:spPr>
        <p:txBody>
          <a:bodyPr wrap="square" lIns="0" tIns="0" rIns="0" bIns="0" anchor="t">
            <a:spAutoFit/>
          </a:bodyPr>
          <a:lstStyle/>
          <a:p>
            <a:pPr>
              <a:lnSpc>
                <a:spcPct val="100000"/>
              </a:lnSpc>
              <a:spcBef>
                <a:spcPts val="0"/>
              </a:spcBef>
              <a:spcAft>
                <a:spcPts val="600"/>
              </a:spcAft>
            </a:pPr>
            <a:r>
              <a:rPr lang="en-GB" sz="1200" i="1" dirty="0">
                <a:solidFill>
                  <a:srgbClr val="2EE6A6"/>
                </a:solidFill>
                <a:latin typeface="Consolas"/>
              </a:rPr>
              <a:t>GitLab Repository: </a:t>
            </a:r>
            <a:r>
              <a:rPr lang="en-GB" sz="1200" i="1" dirty="0">
                <a:solidFill>
                  <a:srgbClr val="FF0000"/>
                </a:solidFill>
                <a:latin typeface="Consolas"/>
                <a:hlinkClick r:id="rId3">
                  <a:extLst>
                    <a:ext uri="{A12FA001-AC4F-418D-AE19-62706E023703}">
                      <ahyp:hlinkClr xmlns:ahyp="http://schemas.microsoft.com/office/drawing/2018/hyperlinkcolor" val="tx"/>
                    </a:ext>
                  </a:extLst>
                </a:hlinkClick>
              </a:rPr>
              <a:t>https://gitlab.inf.unibz.it/kodanda.challa/rtbdp-crypto-anomaly</a:t>
            </a:r>
            <a:endParaRPr lang="en-GB" sz="1200" i="1" dirty="0">
              <a:solidFill>
                <a:srgbClr val="FF0000"/>
              </a:solidFill>
              <a:latin typeface="Consolas"/>
            </a:endParaRPr>
          </a:p>
          <a:p>
            <a:pPr>
              <a:lnSpc>
                <a:spcPct val="100000"/>
              </a:lnSpc>
              <a:spcBef>
                <a:spcPts val="0"/>
              </a:spcBef>
              <a:spcAft>
                <a:spcPts val="600"/>
              </a:spcAft>
            </a:pPr>
            <a:r>
              <a:rPr lang="en-GB" sz="1200" i="1" dirty="0">
                <a:solidFill>
                  <a:srgbClr val="2EE6A6"/>
                </a:solidFill>
                <a:latin typeface="Consolas"/>
              </a:rPr>
              <a:t>GitHub Repository: </a:t>
            </a:r>
            <a:r>
              <a:rPr lang="en-GB" sz="1200" i="1" dirty="0">
                <a:solidFill>
                  <a:srgbClr val="FF0000"/>
                </a:solidFill>
                <a:latin typeface="Consolas"/>
                <a:hlinkClick r:id="rId4">
                  <a:extLst>
                    <a:ext uri="{A12FA001-AC4F-418D-AE19-62706E023703}">
                      <ahyp:hlinkClr xmlns:ahyp="http://schemas.microsoft.com/office/drawing/2018/hyperlinkcolor" val="tx"/>
                    </a:ext>
                  </a:extLst>
                </a:hlinkClick>
              </a:rPr>
              <a:t>https://github.com/kodandachalla/RTBDP_Project</a:t>
            </a:r>
            <a:endParaRPr sz="1200" i="1" dirty="0">
              <a:solidFill>
                <a:srgbClr val="FF0000"/>
              </a:solidFill>
              <a:latin typeface="Consola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320"/>
        </a:solidFill>
        <a:effectLst/>
      </p:bgPr>
    </p:bg>
    <p:spTree>
      <p:nvGrpSpPr>
        <p:cNvPr id="1" name=""/>
        <p:cNvGrpSpPr/>
        <p:nvPr/>
      </p:nvGrpSpPr>
      <p:grpSpPr>
        <a:xfrm>
          <a:off x="0" y="0"/>
          <a:ext cx="0" cy="0"/>
          <a:chOff x="0" y="0"/>
          <a:chExt cx="0" cy="0"/>
        </a:xfrm>
      </p:grpSpPr>
      <p:sp>
        <p:nvSpPr>
          <p:cNvPr id="2" name="Text 0"/>
          <p:cNvSpPr/>
          <p:nvPr/>
        </p:nvSpPr>
        <p:spPr>
          <a:xfrm>
            <a:off x="691263" y="548640"/>
            <a:ext cx="2438400" cy="200055"/>
          </a:xfrm>
          <a:prstGeom prst="rect">
            <a:avLst/>
          </a:prstGeom>
          <a:noFill/>
        </p:spPr>
        <p:txBody>
          <a:bodyPr wrap="square" lIns="0" tIns="0" rIns="0" bIns="0" anchor="t">
            <a:spAutoFit/>
          </a:bodyPr>
          <a:lstStyle/>
          <a:p>
            <a:pPr>
              <a:spcAft>
                <a:spcPts val="600"/>
              </a:spcAft>
            </a:pPr>
            <a:r>
              <a:rPr lang="en-US" sz="1300" b="1" dirty="0">
                <a:solidFill>
                  <a:srgbClr val="2EE6A6"/>
                </a:solidFill>
                <a:latin typeface="Calibri"/>
              </a:rPr>
              <a:t>THE PROBLEM</a:t>
            </a:r>
          </a:p>
        </p:txBody>
      </p:sp>
      <p:sp>
        <p:nvSpPr>
          <p:cNvPr id="3" name="Text 1"/>
          <p:cNvSpPr/>
          <p:nvPr/>
        </p:nvSpPr>
        <p:spPr>
          <a:xfrm>
            <a:off x="670560" y="670560"/>
            <a:ext cx="10850880" cy="914400"/>
          </a:xfrm>
          <a:prstGeom prst="rect">
            <a:avLst/>
          </a:prstGeom>
          <a:noFill/>
          <a:ln/>
        </p:spPr>
        <p:txBody>
          <a:bodyPr wrap="square" rtlCol="0" anchor="ctr"/>
          <a:lstStyle/>
          <a:p>
            <a:pPr defTabSz="1219170"/>
            <a:r>
              <a:rPr lang="en-US" sz="3000" b="1" dirty="0">
                <a:solidFill>
                  <a:srgbClr val="FFFFFF"/>
                </a:solidFill>
                <a:latin typeface="Georgia" pitchFamily="34" charset="0"/>
                <a:ea typeface="Georgia" pitchFamily="34" charset="-122"/>
                <a:cs typeface="Georgia" pitchFamily="34" charset="-120"/>
              </a:rPr>
              <a:t>Crypto markets are a target for cheating</a:t>
            </a:r>
            <a:endParaRPr lang="en-US" sz="3000" dirty="0">
              <a:solidFill>
                <a:prstClr val="black"/>
              </a:solidFill>
              <a:latin typeface="Calibri" panose="020F0502020204030204"/>
            </a:endParaRPr>
          </a:p>
        </p:txBody>
      </p:sp>
      <p:sp>
        <p:nvSpPr>
          <p:cNvPr id="4" name="Text 2"/>
          <p:cNvSpPr/>
          <p:nvPr/>
        </p:nvSpPr>
        <p:spPr>
          <a:xfrm>
            <a:off x="670560" y="1731264"/>
            <a:ext cx="6339840" cy="426720"/>
          </a:xfrm>
          <a:prstGeom prst="rect">
            <a:avLst/>
          </a:prstGeom>
          <a:noFill/>
          <a:ln/>
        </p:spPr>
        <p:txBody>
          <a:bodyPr wrap="square" rtlCol="0" anchor="t"/>
          <a:lstStyle/>
          <a:p>
            <a:pPr defTabSz="1219170"/>
            <a:r>
              <a:rPr lang="en-US" sz="1600" dirty="0">
                <a:solidFill>
                  <a:srgbClr val="FFFFFF"/>
                </a:solidFill>
                <a:latin typeface="Calibri" pitchFamily="34" charset="0"/>
                <a:ea typeface="Calibri" pitchFamily="34" charset="-122"/>
                <a:cs typeface="Calibri" pitchFamily="34" charset="-120"/>
              </a:rPr>
              <a:t>Crypto trades 24/7 and produces thousands of trades a second.</a:t>
            </a:r>
            <a:endParaRPr lang="en-US" sz="1600" dirty="0">
              <a:solidFill>
                <a:prstClr val="black"/>
              </a:solidFill>
              <a:latin typeface="Calibri" panose="020F0502020204030204"/>
            </a:endParaRPr>
          </a:p>
        </p:txBody>
      </p:sp>
      <p:sp>
        <p:nvSpPr>
          <p:cNvPr id="5" name="Text 3"/>
          <p:cNvSpPr/>
          <p:nvPr/>
        </p:nvSpPr>
        <p:spPr>
          <a:xfrm>
            <a:off x="670560" y="2218944"/>
            <a:ext cx="6339840" cy="426720"/>
          </a:xfrm>
          <a:prstGeom prst="rect">
            <a:avLst/>
          </a:prstGeom>
          <a:noFill/>
          <a:ln/>
        </p:spPr>
        <p:txBody>
          <a:bodyPr wrap="square" rtlCol="0" anchor="t"/>
          <a:lstStyle/>
          <a:p>
            <a:pPr defTabSz="1219170"/>
            <a:r>
              <a:rPr lang="en-US" sz="1600" dirty="0">
                <a:solidFill>
                  <a:srgbClr val="FFFFFF"/>
                </a:solidFill>
                <a:latin typeface="Calibri" pitchFamily="34" charset="0"/>
                <a:ea typeface="Calibri" pitchFamily="34" charset="-122"/>
                <a:cs typeface="Calibri" pitchFamily="34" charset="-120"/>
              </a:rPr>
              <a:t>Because it is lightly regulated, people cheat:</a:t>
            </a:r>
            <a:endParaRPr lang="en-US" sz="1600" dirty="0">
              <a:solidFill>
                <a:prstClr val="black"/>
              </a:solidFill>
              <a:latin typeface="Calibri" panose="020F0502020204030204"/>
            </a:endParaRPr>
          </a:p>
        </p:txBody>
      </p:sp>
      <p:grpSp>
        <p:nvGrpSpPr>
          <p:cNvPr id="24" name="Group 23">
            <a:extLst>
              <a:ext uri="{FF2B5EF4-FFF2-40B4-BE49-F238E27FC236}">
                <a16:creationId xmlns:a16="http://schemas.microsoft.com/office/drawing/2014/main" id="{4F034C28-06D7-1539-7A58-63E4CCC0833A}"/>
              </a:ext>
            </a:extLst>
          </p:cNvPr>
          <p:cNvGrpSpPr/>
          <p:nvPr/>
        </p:nvGrpSpPr>
        <p:grpSpPr>
          <a:xfrm>
            <a:off x="670561" y="2755391"/>
            <a:ext cx="5678482" cy="3177353"/>
            <a:chOff x="670560" y="2755392"/>
            <a:chExt cx="6360543" cy="2578378"/>
          </a:xfrm>
        </p:grpSpPr>
        <p:sp>
          <p:nvSpPr>
            <p:cNvPr id="6" name="Text 4"/>
            <p:cNvSpPr/>
            <p:nvPr/>
          </p:nvSpPr>
          <p:spPr>
            <a:xfrm>
              <a:off x="691263" y="2755392"/>
              <a:ext cx="6339840" cy="365760"/>
            </a:xfrm>
            <a:prstGeom prst="rect">
              <a:avLst/>
            </a:prstGeom>
            <a:noFill/>
            <a:ln/>
          </p:spPr>
          <p:txBody>
            <a:bodyPr wrap="square" rtlCol="0" anchor="ctr"/>
            <a:lstStyle/>
            <a:p>
              <a:pPr defTabSz="1219170"/>
              <a:r>
                <a:rPr lang="en-US" sz="1467" dirty="0">
                  <a:solidFill>
                    <a:srgbClr val="8FA8C8"/>
                  </a:solidFill>
                  <a:latin typeface="Calibri" pitchFamily="34" charset="0"/>
                  <a:ea typeface="Calibri" pitchFamily="34" charset="-122"/>
                  <a:cs typeface="Calibri" pitchFamily="34" charset="-120"/>
                </a:rPr>
                <a:t>• Wash trading — a person quietly buys and sells to themselves to make a coin look busier than it really is.</a:t>
              </a:r>
              <a:endParaRPr lang="en-US" sz="1467" dirty="0">
                <a:solidFill>
                  <a:prstClr val="black"/>
                </a:solidFill>
                <a:latin typeface="Calibri" panose="020F0502020204030204"/>
              </a:endParaRPr>
            </a:p>
          </p:txBody>
        </p:sp>
        <p:sp>
          <p:nvSpPr>
            <p:cNvPr id="7" name="Text 5"/>
            <p:cNvSpPr/>
            <p:nvPr/>
          </p:nvSpPr>
          <p:spPr>
            <a:xfrm>
              <a:off x="670560" y="3425952"/>
              <a:ext cx="6339840" cy="365760"/>
            </a:xfrm>
            <a:prstGeom prst="rect">
              <a:avLst/>
            </a:prstGeom>
            <a:noFill/>
            <a:ln/>
          </p:spPr>
          <p:txBody>
            <a:bodyPr wrap="square" rtlCol="0" anchor="ctr"/>
            <a:lstStyle/>
            <a:p>
              <a:pPr defTabSz="1219170"/>
              <a:r>
                <a:rPr lang="en-US" sz="1467" dirty="0">
                  <a:solidFill>
                    <a:srgbClr val="8FA8C8"/>
                  </a:solidFill>
                  <a:latin typeface="Calibri" pitchFamily="34" charset="0"/>
                  <a:ea typeface="Calibri" pitchFamily="34" charset="-122"/>
                  <a:cs typeface="Calibri" pitchFamily="34" charset="-120"/>
                </a:rPr>
                <a:t>• Pump and dump — a group pushes a price up fast, then sells at the top, leaving buyers with losses.</a:t>
              </a:r>
              <a:endParaRPr lang="en-US" sz="1467" dirty="0">
                <a:solidFill>
                  <a:prstClr val="black"/>
                </a:solidFill>
                <a:latin typeface="Calibri" panose="020F0502020204030204"/>
              </a:endParaRPr>
            </a:p>
          </p:txBody>
        </p:sp>
        <p:sp>
          <p:nvSpPr>
            <p:cNvPr id="8" name="Text 6"/>
            <p:cNvSpPr/>
            <p:nvPr/>
          </p:nvSpPr>
          <p:spPr>
            <a:xfrm>
              <a:off x="670560" y="4133088"/>
              <a:ext cx="6339840" cy="365760"/>
            </a:xfrm>
            <a:prstGeom prst="rect">
              <a:avLst/>
            </a:prstGeom>
            <a:noFill/>
            <a:ln/>
          </p:spPr>
          <p:txBody>
            <a:bodyPr wrap="square" rtlCol="0" anchor="ctr"/>
            <a:lstStyle/>
            <a:p>
              <a:pPr defTabSz="1219170"/>
              <a:r>
                <a:rPr lang="en-US" sz="1467" dirty="0">
                  <a:solidFill>
                    <a:srgbClr val="8FA8C8"/>
                  </a:solidFill>
                  <a:latin typeface="Calibri" pitchFamily="34" charset="0"/>
                  <a:ea typeface="Calibri" pitchFamily="34" charset="-122"/>
                  <a:cs typeface="Calibri" pitchFamily="34" charset="-120"/>
                </a:rPr>
                <a:t>• Volume spikes — a sudden flood of trades, which can come before a price crash.</a:t>
              </a:r>
              <a:endParaRPr lang="en-US" sz="1467" dirty="0">
                <a:solidFill>
                  <a:prstClr val="black"/>
                </a:solidFill>
                <a:latin typeface="Calibri" panose="020F0502020204030204"/>
              </a:endParaRPr>
            </a:p>
          </p:txBody>
        </p:sp>
        <p:sp>
          <p:nvSpPr>
            <p:cNvPr id="9" name="Text 7"/>
            <p:cNvSpPr/>
            <p:nvPr/>
          </p:nvSpPr>
          <p:spPr>
            <a:xfrm>
              <a:off x="691263" y="4724170"/>
              <a:ext cx="6339840" cy="609600"/>
            </a:xfrm>
            <a:prstGeom prst="rect">
              <a:avLst/>
            </a:prstGeom>
            <a:noFill/>
            <a:ln/>
          </p:spPr>
          <p:txBody>
            <a:bodyPr wrap="square" rtlCol="0" anchor="t"/>
            <a:lstStyle/>
            <a:p>
              <a:pPr defTabSz="1219170"/>
              <a:r>
                <a:rPr lang="en-US" sz="1467" dirty="0">
                  <a:solidFill>
                    <a:srgbClr val="8FA8C8"/>
                  </a:solidFill>
                  <a:latin typeface="Calibri" pitchFamily="34" charset="0"/>
                  <a:ea typeface="Calibri" pitchFamily="34" charset="-122"/>
                  <a:cs typeface="Calibri" pitchFamily="34" charset="-120"/>
                </a:rPr>
                <a:t>Finding these tricks a day later is useless. To help an exchange or regulator the warning must appear within seconds. That is exactly what this project does.</a:t>
              </a:r>
              <a:endParaRPr lang="en-US" sz="1467" dirty="0">
                <a:solidFill>
                  <a:prstClr val="black"/>
                </a:solidFill>
                <a:latin typeface="Calibri" panose="020F0502020204030204"/>
              </a:endParaRPr>
            </a:p>
          </p:txBody>
        </p:sp>
      </p:grpSp>
      <p:pic>
        <p:nvPicPr>
          <p:cNvPr id="20" name="Picture 19" descr="fig_patterns.png">
            <a:extLst>
              <a:ext uri="{FF2B5EF4-FFF2-40B4-BE49-F238E27FC236}">
                <a16:creationId xmlns:a16="http://schemas.microsoft.com/office/drawing/2014/main" id="{DDFFEB00-1710-32D1-5B20-BC4FD93D8A46}"/>
              </a:ext>
            </a:extLst>
          </p:cNvPr>
          <p:cNvPicPr>
            <a:picLocks noChangeAspect="1"/>
          </p:cNvPicPr>
          <p:nvPr/>
        </p:nvPicPr>
        <p:blipFill>
          <a:blip r:embed="rId3"/>
          <a:stretch>
            <a:fillRect/>
          </a:stretch>
        </p:blipFill>
        <p:spPr>
          <a:xfrm>
            <a:off x="7010400" y="2255987"/>
            <a:ext cx="4606686" cy="1739057"/>
          </a:xfrm>
          <a:prstGeom prst="rect">
            <a:avLst/>
          </a:prstGeom>
        </p:spPr>
      </p:pic>
      <p:sp>
        <p:nvSpPr>
          <p:cNvPr id="23" name="TextBox 22">
            <a:extLst>
              <a:ext uri="{FF2B5EF4-FFF2-40B4-BE49-F238E27FC236}">
                <a16:creationId xmlns:a16="http://schemas.microsoft.com/office/drawing/2014/main" id="{4E919B31-5BC1-7078-5895-43A2CD961C0E}"/>
              </a:ext>
            </a:extLst>
          </p:cNvPr>
          <p:cNvSpPr txBox="1"/>
          <p:nvPr/>
        </p:nvSpPr>
        <p:spPr>
          <a:xfrm>
            <a:off x="7080954" y="4547750"/>
            <a:ext cx="4606687" cy="1292662"/>
          </a:xfrm>
          <a:prstGeom prst="rect">
            <a:avLst/>
          </a:prstGeom>
          <a:noFill/>
        </p:spPr>
        <p:txBody>
          <a:bodyPr wrap="square" lIns="0" tIns="0" rIns="0" bIns="0" anchor="t">
            <a:spAutoFit/>
          </a:bodyPr>
          <a:lstStyle/>
          <a:p>
            <a:pPr>
              <a:lnSpc>
                <a:spcPct val="100000"/>
              </a:lnSpc>
              <a:spcBef>
                <a:spcPts val="0"/>
              </a:spcBef>
              <a:spcAft>
                <a:spcPts val="600"/>
              </a:spcAft>
            </a:pPr>
            <a:r>
              <a:rPr sz="1400" b="1" i="0" dirty="0">
                <a:solidFill>
                  <a:srgbClr val="F2A93B"/>
                </a:solidFill>
                <a:latin typeface="Calibri"/>
              </a:rPr>
              <a:t>Wash trade: </a:t>
            </a:r>
            <a:r>
              <a:rPr sz="1400" b="0" i="0" dirty="0">
                <a:solidFill>
                  <a:srgbClr val="EAF0F8"/>
                </a:solidFill>
                <a:latin typeface="Calibri"/>
              </a:rPr>
              <a:t>price wiggles + fake volume.    </a:t>
            </a:r>
            <a:endParaRPr lang="en-US" sz="1400" b="0" i="0" dirty="0">
              <a:solidFill>
                <a:srgbClr val="EAF0F8"/>
              </a:solidFill>
              <a:latin typeface="Calibri"/>
            </a:endParaRPr>
          </a:p>
          <a:p>
            <a:pPr>
              <a:lnSpc>
                <a:spcPct val="100000"/>
              </a:lnSpc>
              <a:spcBef>
                <a:spcPts val="0"/>
              </a:spcBef>
              <a:spcAft>
                <a:spcPts val="600"/>
              </a:spcAft>
            </a:pPr>
            <a:r>
              <a:rPr sz="1400" b="1" i="0" dirty="0">
                <a:solidFill>
                  <a:srgbClr val="E84749"/>
                </a:solidFill>
                <a:latin typeface="Calibri"/>
              </a:rPr>
              <a:t>Pump &amp; dump: </a:t>
            </a:r>
            <a:r>
              <a:rPr sz="1400" b="0" i="0" dirty="0">
                <a:solidFill>
                  <a:srgbClr val="EAF0F8"/>
                </a:solidFill>
                <a:latin typeface="Calibri"/>
              </a:rPr>
              <a:t>up fast, then crash.    </a:t>
            </a:r>
            <a:endParaRPr lang="en-US" sz="1400" b="0" i="0" dirty="0">
              <a:solidFill>
                <a:srgbClr val="EAF0F8"/>
              </a:solidFill>
              <a:latin typeface="Calibri"/>
            </a:endParaRPr>
          </a:p>
          <a:p>
            <a:pPr>
              <a:lnSpc>
                <a:spcPct val="100000"/>
              </a:lnSpc>
              <a:spcBef>
                <a:spcPts val="0"/>
              </a:spcBef>
              <a:spcAft>
                <a:spcPts val="600"/>
              </a:spcAft>
            </a:pPr>
            <a:r>
              <a:rPr sz="1400" b="1" i="0" dirty="0">
                <a:solidFill>
                  <a:srgbClr val="3B9EFF"/>
                </a:solidFill>
                <a:latin typeface="Calibri"/>
              </a:rPr>
              <a:t>Volume spike: </a:t>
            </a:r>
            <a:r>
              <a:rPr sz="1400" b="0" i="0" dirty="0">
                <a:solidFill>
                  <a:srgbClr val="EAF0F8"/>
                </a:solidFill>
                <a:latin typeface="Calibri"/>
              </a:rPr>
              <a:t>sudden flood of trades.</a:t>
            </a:r>
          </a:p>
          <a:p>
            <a:pPr>
              <a:lnSpc>
                <a:spcPct val="100000"/>
              </a:lnSpc>
              <a:spcBef>
                <a:spcPts val="0"/>
              </a:spcBef>
              <a:spcAft>
                <a:spcPts val="600"/>
              </a:spcAft>
            </a:pPr>
            <a:r>
              <a:rPr sz="1350" b="0" i="1" dirty="0">
                <a:solidFill>
                  <a:srgbClr val="9AA8BD"/>
                </a:solidFill>
                <a:latin typeface="Calibri"/>
              </a:rPr>
              <a:t>Each match is saved as a MEDIUM or HIGH alert and appears on the dashboard in seconds.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8" y="8626"/>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TextBox 2"/>
          <p:cNvSpPr txBox="1"/>
          <p:nvPr/>
        </p:nvSpPr>
        <p:spPr>
          <a:xfrm>
            <a:off x="777240" y="502920"/>
            <a:ext cx="1005840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2EE6A6"/>
                </a:solidFill>
                <a:latin typeface="Calibri"/>
              </a:rPr>
              <a:t>THE DATA</a:t>
            </a: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Live trades from Binance — free, no key</a:t>
            </a:r>
          </a:p>
        </p:txBody>
      </p:sp>
      <p:sp>
        <p:nvSpPr>
          <p:cNvPr id="5" name="TextBox 4"/>
          <p:cNvSpPr txBox="1"/>
          <p:nvPr/>
        </p:nvSpPr>
        <p:spPr>
          <a:xfrm>
            <a:off x="777240" y="1874519"/>
            <a:ext cx="10607040" cy="548640"/>
          </a:xfrm>
          <a:prstGeom prst="rect">
            <a:avLst/>
          </a:prstGeom>
          <a:noFill/>
        </p:spPr>
        <p:txBody>
          <a:bodyPr wrap="square" lIns="0" tIns="0" rIns="0" bIns="0" anchor="t">
            <a:spAutoFit/>
          </a:bodyPr>
          <a:lstStyle/>
          <a:p>
            <a:pPr algn="l">
              <a:lnSpc>
                <a:spcPct val="100000"/>
              </a:lnSpc>
              <a:spcBef>
                <a:spcPts val="0"/>
              </a:spcBef>
              <a:spcAft>
                <a:spcPts val="600"/>
              </a:spcAft>
            </a:pPr>
            <a:r>
              <a:rPr sz="1600" b="0" i="0">
                <a:solidFill>
                  <a:srgbClr val="EAF0F8"/>
                </a:solidFill>
                <a:latin typeface="Calibri"/>
              </a:rPr>
              <a:t>One always-open connection gives us every trade for all six coins.</a:t>
            </a:r>
          </a:p>
        </p:txBody>
      </p:sp>
      <p:sp>
        <p:nvSpPr>
          <p:cNvPr id="6" name="TextBox 5"/>
          <p:cNvSpPr txBox="1"/>
          <p:nvPr/>
        </p:nvSpPr>
        <p:spPr>
          <a:xfrm>
            <a:off x="777240" y="2514600"/>
            <a:ext cx="10607040" cy="215444"/>
          </a:xfrm>
          <a:prstGeom prst="rect">
            <a:avLst/>
          </a:prstGeom>
          <a:noFill/>
        </p:spPr>
        <p:txBody>
          <a:bodyPr wrap="square" lIns="0" tIns="0" rIns="0" bIns="0" anchor="t">
            <a:spAutoFit/>
          </a:bodyPr>
          <a:lstStyle/>
          <a:p>
            <a:pPr algn="l">
              <a:lnSpc>
                <a:spcPct val="100000"/>
              </a:lnSpc>
              <a:spcBef>
                <a:spcPts val="0"/>
              </a:spcBef>
              <a:spcAft>
                <a:spcPts val="600"/>
              </a:spcAft>
            </a:pPr>
            <a:r>
              <a:rPr sz="1400" b="0" i="0" dirty="0">
                <a:solidFill>
                  <a:srgbClr val="2EE6A6"/>
                </a:solidFill>
                <a:latin typeface="Consolas"/>
              </a:rPr>
              <a:t>symbol · price · </a:t>
            </a:r>
            <a:r>
              <a:rPr lang="en-US" sz="1400" dirty="0">
                <a:solidFill>
                  <a:srgbClr val="2EE6A6"/>
                </a:solidFill>
                <a:latin typeface="Consolas"/>
              </a:rPr>
              <a:t>volume</a:t>
            </a:r>
            <a:r>
              <a:rPr sz="1400" b="0" i="0" dirty="0">
                <a:solidFill>
                  <a:srgbClr val="2EE6A6"/>
                </a:solidFill>
                <a:latin typeface="Consolas"/>
              </a:rPr>
              <a:t> · exact time (to the millisecond)</a:t>
            </a:r>
          </a:p>
        </p:txBody>
      </p:sp>
      <p:grpSp>
        <p:nvGrpSpPr>
          <p:cNvPr id="21" name="Group 20">
            <a:extLst>
              <a:ext uri="{FF2B5EF4-FFF2-40B4-BE49-F238E27FC236}">
                <a16:creationId xmlns:a16="http://schemas.microsoft.com/office/drawing/2014/main" id="{8F1CB4F8-CE58-E711-FD4B-803DABCFA8E9}"/>
              </a:ext>
            </a:extLst>
          </p:cNvPr>
          <p:cNvGrpSpPr/>
          <p:nvPr/>
        </p:nvGrpSpPr>
        <p:grpSpPr>
          <a:xfrm>
            <a:off x="777239" y="3246120"/>
            <a:ext cx="6132519" cy="2788920"/>
            <a:chOff x="777240" y="3246120"/>
            <a:chExt cx="6023281" cy="2788920"/>
          </a:xfrm>
        </p:grpSpPr>
        <p:sp>
          <p:nvSpPr>
            <p:cNvPr id="7" name="Oval 6"/>
            <p:cNvSpPr/>
            <p:nvPr/>
          </p:nvSpPr>
          <p:spPr>
            <a:xfrm>
              <a:off x="777240" y="3246120"/>
              <a:ext cx="457200" cy="457200"/>
            </a:xfrm>
            <a:prstGeom prst="ellipse">
              <a:avLst/>
            </a:prstGeom>
            <a:solidFill>
              <a:srgbClr val="2EE6A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8" name="TextBox 7"/>
            <p:cNvSpPr txBox="1"/>
            <p:nvPr/>
          </p:nvSpPr>
          <p:spPr>
            <a:xfrm>
              <a:off x="1417320" y="3332461"/>
              <a:ext cx="4583939"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dirty="0">
                  <a:solidFill>
                    <a:srgbClr val="2EE6A6"/>
                  </a:solidFill>
                  <a:latin typeface="Calibri"/>
                </a:rPr>
                <a:t>Fast   </a:t>
              </a:r>
              <a:r>
                <a:rPr sz="1500" b="0" i="0" dirty="0">
                  <a:solidFill>
                    <a:srgbClr val="EAF0F8"/>
                  </a:solidFill>
                  <a:latin typeface="Calibri"/>
                </a:rPr>
                <a:t>never stops — 50 to 200 trades per second, per coin</a:t>
              </a:r>
            </a:p>
          </p:txBody>
        </p:sp>
        <p:sp>
          <p:nvSpPr>
            <p:cNvPr id="9" name="Oval 8"/>
            <p:cNvSpPr/>
            <p:nvPr/>
          </p:nvSpPr>
          <p:spPr>
            <a:xfrm>
              <a:off x="777240" y="4023359"/>
              <a:ext cx="457200" cy="457200"/>
            </a:xfrm>
            <a:prstGeom prst="ellipse">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0" name="TextBox 9"/>
            <p:cNvSpPr txBox="1"/>
            <p:nvPr/>
          </p:nvSpPr>
          <p:spPr>
            <a:xfrm>
              <a:off x="1417321" y="4109701"/>
              <a:ext cx="5035819"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dirty="0">
                  <a:solidFill>
                    <a:srgbClr val="3B9EFF"/>
                  </a:solidFill>
                  <a:latin typeface="Calibri"/>
                </a:rPr>
                <a:t>Enough   </a:t>
              </a:r>
              <a:r>
                <a:rPr sz="1500" b="0" i="0" dirty="0">
                  <a:solidFill>
                    <a:srgbClr val="EAF0F8"/>
                  </a:solidFill>
                  <a:latin typeface="Calibri"/>
                </a:rPr>
                <a:t>hundreds of trades a second in total — real stream load</a:t>
              </a:r>
            </a:p>
          </p:txBody>
        </p:sp>
        <p:sp>
          <p:nvSpPr>
            <p:cNvPr id="11" name="Oval 10"/>
            <p:cNvSpPr/>
            <p:nvPr/>
          </p:nvSpPr>
          <p:spPr>
            <a:xfrm>
              <a:off x="777240" y="4800600"/>
              <a:ext cx="457200" cy="457200"/>
            </a:xfrm>
            <a:prstGeom prst="ellipse">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2" name="TextBox 11"/>
            <p:cNvSpPr txBox="1"/>
            <p:nvPr/>
          </p:nvSpPr>
          <p:spPr>
            <a:xfrm>
              <a:off x="1417320" y="4886941"/>
              <a:ext cx="5383201"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dirty="0">
                  <a:solidFill>
                    <a:srgbClr val="F2A93B"/>
                  </a:solidFill>
                  <a:latin typeface="Calibri"/>
                </a:rPr>
                <a:t>A bit messy   </a:t>
              </a:r>
              <a:r>
                <a:rPr sz="1500" b="0" i="0" dirty="0">
                  <a:solidFill>
                    <a:srgbClr val="EAF0F8"/>
                  </a:solidFill>
                  <a:latin typeface="Calibri"/>
                </a:rPr>
                <a:t>trades can arrive slightly out of order — we handle that</a:t>
              </a:r>
            </a:p>
          </p:txBody>
        </p:sp>
        <p:sp>
          <p:nvSpPr>
            <p:cNvPr id="13" name="Oval 12"/>
            <p:cNvSpPr/>
            <p:nvPr/>
          </p:nvSpPr>
          <p:spPr>
            <a:xfrm>
              <a:off x="777240" y="5577840"/>
              <a:ext cx="457200" cy="457200"/>
            </a:xfrm>
            <a:prstGeom prst="ellipse">
              <a:avLst/>
            </a:prstGeom>
            <a:solidFill>
              <a:srgbClr val="E8474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4" name="TextBox 13"/>
            <p:cNvSpPr txBox="1"/>
            <p:nvPr/>
          </p:nvSpPr>
          <p:spPr>
            <a:xfrm>
              <a:off x="1417320" y="5664181"/>
              <a:ext cx="3908943"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dirty="0">
                  <a:solidFill>
                    <a:srgbClr val="E84749"/>
                  </a:solidFill>
                  <a:latin typeface="Calibri"/>
                </a:rPr>
                <a:t>Tiny   </a:t>
              </a:r>
              <a:r>
                <a:rPr sz="1500" b="0" i="0" dirty="0">
                  <a:solidFill>
                    <a:srgbClr val="EAF0F8"/>
                  </a:solidFill>
                  <a:latin typeface="Calibri"/>
                </a:rPr>
                <a:t>each message is small and simple to read</a:t>
              </a:r>
            </a:p>
          </p:txBody>
        </p:sp>
      </p:grpSp>
      <p:sp>
        <p:nvSpPr>
          <p:cNvPr id="16" name="Shape 8">
            <a:extLst>
              <a:ext uri="{FF2B5EF4-FFF2-40B4-BE49-F238E27FC236}">
                <a16:creationId xmlns:a16="http://schemas.microsoft.com/office/drawing/2014/main" id="{52183B88-A367-2FDD-D3A9-16B7BC02FF0E}"/>
              </a:ext>
            </a:extLst>
          </p:cNvPr>
          <p:cNvSpPr/>
          <p:nvPr/>
        </p:nvSpPr>
        <p:spPr>
          <a:xfrm>
            <a:off x="7254240" y="1706880"/>
            <a:ext cx="4511040" cy="1158240"/>
          </a:xfrm>
          <a:prstGeom prst="roundRect">
            <a:avLst>
              <a:gd name="adj" fmla="val 8421"/>
            </a:avLst>
          </a:prstGeom>
          <a:solidFill>
            <a:srgbClr val="1A2840"/>
          </a:solidFill>
          <a:ln w="6350">
            <a:solidFill>
              <a:srgbClr val="00C896"/>
            </a:solidFill>
            <a:prstDash val="solid"/>
          </a:ln>
        </p:spPr>
        <p:txBody>
          <a:bodyPr/>
          <a:lstStyle/>
          <a:p>
            <a:pPr defTabSz="1219170"/>
            <a:endParaRPr lang="en-IN" sz="2400">
              <a:solidFill>
                <a:prstClr val="black"/>
              </a:solidFill>
              <a:latin typeface="Calibri" panose="020F0502020204030204"/>
            </a:endParaRPr>
          </a:p>
        </p:txBody>
      </p:sp>
      <p:sp>
        <p:nvSpPr>
          <p:cNvPr id="18" name="Text 9">
            <a:extLst>
              <a:ext uri="{FF2B5EF4-FFF2-40B4-BE49-F238E27FC236}">
                <a16:creationId xmlns:a16="http://schemas.microsoft.com/office/drawing/2014/main" id="{B50A119F-9048-B3FE-234C-7BE3AE1BF066}"/>
              </a:ext>
            </a:extLst>
          </p:cNvPr>
          <p:cNvSpPr/>
          <p:nvPr/>
        </p:nvSpPr>
        <p:spPr>
          <a:xfrm>
            <a:off x="7254240" y="1828800"/>
            <a:ext cx="4511040" cy="633984"/>
          </a:xfrm>
          <a:prstGeom prst="rect">
            <a:avLst/>
          </a:prstGeom>
          <a:noFill/>
          <a:ln/>
        </p:spPr>
        <p:txBody>
          <a:bodyPr wrap="square" rtlCol="0" anchor="ctr"/>
          <a:lstStyle/>
          <a:p>
            <a:pPr algn="ctr" defTabSz="1219170"/>
            <a:r>
              <a:rPr lang="en-US" sz="4267" b="1" dirty="0">
                <a:solidFill>
                  <a:srgbClr val="00C896"/>
                </a:solidFill>
                <a:latin typeface="Calibri" pitchFamily="34" charset="0"/>
                <a:ea typeface="Calibri" pitchFamily="34" charset="-122"/>
                <a:cs typeface="Calibri" pitchFamily="34" charset="-120"/>
              </a:rPr>
              <a:t>6</a:t>
            </a:r>
            <a:endParaRPr lang="en-US" sz="4267" dirty="0">
              <a:solidFill>
                <a:prstClr val="black"/>
              </a:solidFill>
              <a:latin typeface="Calibri" panose="020F0502020204030204"/>
            </a:endParaRPr>
          </a:p>
        </p:txBody>
      </p:sp>
      <p:sp>
        <p:nvSpPr>
          <p:cNvPr id="20" name="Text 10">
            <a:extLst>
              <a:ext uri="{FF2B5EF4-FFF2-40B4-BE49-F238E27FC236}">
                <a16:creationId xmlns:a16="http://schemas.microsoft.com/office/drawing/2014/main" id="{8F8207D0-4A1E-09AB-17DC-50F165DA1315}"/>
              </a:ext>
            </a:extLst>
          </p:cNvPr>
          <p:cNvSpPr/>
          <p:nvPr/>
        </p:nvSpPr>
        <p:spPr>
          <a:xfrm>
            <a:off x="7254240" y="2462784"/>
            <a:ext cx="4511040" cy="365760"/>
          </a:xfrm>
          <a:prstGeom prst="rect">
            <a:avLst/>
          </a:prstGeom>
          <a:noFill/>
          <a:ln/>
        </p:spPr>
        <p:txBody>
          <a:bodyPr wrap="square" rtlCol="0" anchor="ctr"/>
          <a:lstStyle/>
          <a:p>
            <a:pPr algn="ctr" defTabSz="1219170"/>
            <a:r>
              <a:rPr lang="en-US" sz="1467" dirty="0">
                <a:solidFill>
                  <a:srgbClr val="5A7A9A"/>
                </a:solidFill>
                <a:latin typeface="Calibri" pitchFamily="34" charset="0"/>
                <a:ea typeface="Calibri" pitchFamily="34" charset="-122"/>
                <a:cs typeface="Calibri" pitchFamily="34" charset="-120"/>
              </a:rPr>
              <a:t>coins watched live</a:t>
            </a:r>
            <a:endParaRPr lang="en-US" sz="1467" dirty="0">
              <a:solidFill>
                <a:prstClr val="black"/>
              </a:solidFill>
              <a:latin typeface="Calibri" panose="020F0502020204030204"/>
            </a:endParaRPr>
          </a:p>
        </p:txBody>
      </p:sp>
      <p:graphicFrame>
        <p:nvGraphicFramePr>
          <p:cNvPr id="24" name="Table 23">
            <a:extLst>
              <a:ext uri="{FF2B5EF4-FFF2-40B4-BE49-F238E27FC236}">
                <a16:creationId xmlns:a16="http://schemas.microsoft.com/office/drawing/2014/main" id="{85955F2B-176B-5F0E-5698-11BFA624D206}"/>
              </a:ext>
            </a:extLst>
          </p:cNvPr>
          <p:cNvGraphicFramePr>
            <a:graphicFrameLocks noGrp="1"/>
          </p:cNvGraphicFramePr>
          <p:nvPr>
            <p:extLst>
              <p:ext uri="{D42A27DB-BD31-4B8C-83A1-F6EECF244321}">
                <p14:modId xmlns:p14="http://schemas.microsoft.com/office/powerpoint/2010/main" val="170250850"/>
              </p:ext>
            </p:extLst>
          </p:nvPr>
        </p:nvGraphicFramePr>
        <p:xfrm>
          <a:off x="7524601" y="3194363"/>
          <a:ext cx="4037162" cy="2560320"/>
        </p:xfrm>
        <a:graphic>
          <a:graphicData uri="http://schemas.openxmlformats.org/drawingml/2006/table">
            <a:tbl>
              <a:tblPr>
                <a:tableStyleId>{22838BEF-8BB2-4498-84A7-C5851F593DF1}</a:tableStyleId>
              </a:tblPr>
              <a:tblGrid>
                <a:gridCol w="2018581">
                  <a:extLst>
                    <a:ext uri="{9D8B030D-6E8A-4147-A177-3AD203B41FA5}">
                      <a16:colId xmlns:a16="http://schemas.microsoft.com/office/drawing/2014/main" val="3075627746"/>
                    </a:ext>
                  </a:extLst>
                </a:gridCol>
                <a:gridCol w="2018581">
                  <a:extLst>
                    <a:ext uri="{9D8B030D-6E8A-4147-A177-3AD203B41FA5}">
                      <a16:colId xmlns:a16="http://schemas.microsoft.com/office/drawing/2014/main" val="2335410888"/>
                    </a:ext>
                  </a:extLst>
                </a:gridCol>
              </a:tblGrid>
              <a:tr h="0">
                <a:tc>
                  <a:txBody>
                    <a:bodyPr/>
                    <a:lstStyle/>
                    <a:p>
                      <a:pPr algn="ctr">
                        <a:buNone/>
                      </a:pPr>
                      <a:r>
                        <a:rPr lang="en-IN" b="1" dirty="0"/>
                        <a:t>Symbol</a:t>
                      </a:r>
                    </a:p>
                  </a:txBody>
                  <a:tcPr anchor="ctr"/>
                </a:tc>
                <a:tc>
                  <a:txBody>
                    <a:bodyPr/>
                    <a:lstStyle/>
                    <a:p>
                      <a:pPr algn="ctr">
                        <a:buNone/>
                      </a:pPr>
                      <a:r>
                        <a:rPr lang="en-IN" b="1" dirty="0"/>
                        <a:t>Name</a:t>
                      </a:r>
                    </a:p>
                  </a:txBody>
                  <a:tcPr anchor="ctr"/>
                </a:tc>
                <a:extLst>
                  <a:ext uri="{0D108BD9-81ED-4DB2-BD59-A6C34878D82A}">
                    <a16:rowId xmlns:a16="http://schemas.microsoft.com/office/drawing/2014/main" val="3752469429"/>
                  </a:ext>
                </a:extLst>
              </a:tr>
              <a:tr h="0">
                <a:tc>
                  <a:txBody>
                    <a:bodyPr/>
                    <a:lstStyle/>
                    <a:p>
                      <a:pPr algn="ctr">
                        <a:buNone/>
                      </a:pPr>
                      <a:r>
                        <a:rPr lang="en-IN" dirty="0"/>
                        <a:t>BTCUSDT</a:t>
                      </a:r>
                    </a:p>
                  </a:txBody>
                  <a:tcPr anchor="ctr"/>
                </a:tc>
                <a:tc>
                  <a:txBody>
                    <a:bodyPr/>
                    <a:lstStyle/>
                    <a:p>
                      <a:pPr algn="ctr">
                        <a:buNone/>
                      </a:pPr>
                      <a:r>
                        <a:rPr lang="en-IN"/>
                        <a:t>Bitcoin</a:t>
                      </a:r>
                    </a:p>
                  </a:txBody>
                  <a:tcPr anchor="ctr"/>
                </a:tc>
                <a:extLst>
                  <a:ext uri="{0D108BD9-81ED-4DB2-BD59-A6C34878D82A}">
                    <a16:rowId xmlns:a16="http://schemas.microsoft.com/office/drawing/2014/main" val="1719694532"/>
                  </a:ext>
                </a:extLst>
              </a:tr>
              <a:tr h="0">
                <a:tc>
                  <a:txBody>
                    <a:bodyPr/>
                    <a:lstStyle/>
                    <a:p>
                      <a:pPr algn="ctr">
                        <a:buNone/>
                      </a:pPr>
                      <a:r>
                        <a:rPr lang="en-IN" dirty="0"/>
                        <a:t>ETHUSDT</a:t>
                      </a:r>
                    </a:p>
                  </a:txBody>
                  <a:tcPr anchor="ctr"/>
                </a:tc>
                <a:tc>
                  <a:txBody>
                    <a:bodyPr/>
                    <a:lstStyle/>
                    <a:p>
                      <a:pPr algn="ctr">
                        <a:buNone/>
                      </a:pPr>
                      <a:r>
                        <a:rPr lang="en-IN"/>
                        <a:t>Ethereum</a:t>
                      </a:r>
                    </a:p>
                  </a:txBody>
                  <a:tcPr anchor="ctr"/>
                </a:tc>
                <a:extLst>
                  <a:ext uri="{0D108BD9-81ED-4DB2-BD59-A6C34878D82A}">
                    <a16:rowId xmlns:a16="http://schemas.microsoft.com/office/drawing/2014/main" val="2394009338"/>
                  </a:ext>
                </a:extLst>
              </a:tr>
              <a:tr h="0">
                <a:tc>
                  <a:txBody>
                    <a:bodyPr/>
                    <a:lstStyle/>
                    <a:p>
                      <a:pPr algn="ctr">
                        <a:buNone/>
                      </a:pPr>
                      <a:r>
                        <a:rPr lang="en-IN" dirty="0"/>
                        <a:t>BNBUSDT</a:t>
                      </a:r>
                    </a:p>
                  </a:txBody>
                  <a:tcPr anchor="ctr"/>
                </a:tc>
                <a:tc>
                  <a:txBody>
                    <a:bodyPr/>
                    <a:lstStyle/>
                    <a:p>
                      <a:pPr algn="ctr">
                        <a:buNone/>
                      </a:pPr>
                      <a:r>
                        <a:rPr lang="en-IN"/>
                        <a:t>BNB (Binance Coin)</a:t>
                      </a:r>
                    </a:p>
                  </a:txBody>
                  <a:tcPr anchor="ctr"/>
                </a:tc>
                <a:extLst>
                  <a:ext uri="{0D108BD9-81ED-4DB2-BD59-A6C34878D82A}">
                    <a16:rowId xmlns:a16="http://schemas.microsoft.com/office/drawing/2014/main" val="3718288494"/>
                  </a:ext>
                </a:extLst>
              </a:tr>
              <a:tr h="0">
                <a:tc>
                  <a:txBody>
                    <a:bodyPr/>
                    <a:lstStyle/>
                    <a:p>
                      <a:pPr algn="ctr">
                        <a:buNone/>
                      </a:pPr>
                      <a:r>
                        <a:rPr lang="en-IN" dirty="0"/>
                        <a:t>SOLUSDT</a:t>
                      </a:r>
                    </a:p>
                  </a:txBody>
                  <a:tcPr anchor="ctr"/>
                </a:tc>
                <a:tc>
                  <a:txBody>
                    <a:bodyPr/>
                    <a:lstStyle/>
                    <a:p>
                      <a:pPr algn="ctr">
                        <a:buNone/>
                      </a:pPr>
                      <a:r>
                        <a:rPr lang="en-IN"/>
                        <a:t>Solana</a:t>
                      </a:r>
                    </a:p>
                  </a:txBody>
                  <a:tcPr anchor="ctr"/>
                </a:tc>
                <a:extLst>
                  <a:ext uri="{0D108BD9-81ED-4DB2-BD59-A6C34878D82A}">
                    <a16:rowId xmlns:a16="http://schemas.microsoft.com/office/drawing/2014/main" val="202687009"/>
                  </a:ext>
                </a:extLst>
              </a:tr>
              <a:tr h="0">
                <a:tc>
                  <a:txBody>
                    <a:bodyPr/>
                    <a:lstStyle/>
                    <a:p>
                      <a:pPr algn="ctr">
                        <a:buNone/>
                      </a:pPr>
                      <a:r>
                        <a:rPr lang="en-IN" dirty="0"/>
                        <a:t>DOGEUSDT</a:t>
                      </a:r>
                    </a:p>
                  </a:txBody>
                  <a:tcPr anchor="ctr"/>
                </a:tc>
                <a:tc>
                  <a:txBody>
                    <a:bodyPr/>
                    <a:lstStyle/>
                    <a:p>
                      <a:pPr algn="ctr">
                        <a:buNone/>
                      </a:pPr>
                      <a:r>
                        <a:rPr lang="en-IN"/>
                        <a:t>Dogecoin</a:t>
                      </a:r>
                    </a:p>
                  </a:txBody>
                  <a:tcPr anchor="ctr"/>
                </a:tc>
                <a:extLst>
                  <a:ext uri="{0D108BD9-81ED-4DB2-BD59-A6C34878D82A}">
                    <a16:rowId xmlns:a16="http://schemas.microsoft.com/office/drawing/2014/main" val="3422500677"/>
                  </a:ext>
                </a:extLst>
              </a:tr>
              <a:tr h="0">
                <a:tc>
                  <a:txBody>
                    <a:bodyPr/>
                    <a:lstStyle/>
                    <a:p>
                      <a:pPr algn="ctr">
                        <a:buNone/>
                      </a:pPr>
                      <a:r>
                        <a:rPr lang="en-IN" dirty="0"/>
                        <a:t>XRPUSDT</a:t>
                      </a:r>
                    </a:p>
                  </a:txBody>
                  <a:tcPr anchor="ctr"/>
                </a:tc>
                <a:tc>
                  <a:txBody>
                    <a:bodyPr/>
                    <a:lstStyle/>
                    <a:p>
                      <a:pPr algn="ctr">
                        <a:buNone/>
                      </a:pPr>
                      <a:r>
                        <a:rPr lang="en-IN" dirty="0"/>
                        <a:t>XRP (Ripple)</a:t>
                      </a:r>
                    </a:p>
                  </a:txBody>
                  <a:tcPr anchor="ctr"/>
                </a:tc>
                <a:extLst>
                  <a:ext uri="{0D108BD9-81ED-4DB2-BD59-A6C34878D82A}">
                    <a16:rowId xmlns:a16="http://schemas.microsoft.com/office/drawing/2014/main" val="340945983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05840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dirty="0">
                <a:solidFill>
                  <a:srgbClr val="2EE6A6"/>
                </a:solidFill>
                <a:latin typeface="Calibri"/>
              </a:rPr>
              <a:t>THE BIG PICTURE</a:t>
            </a: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dirty="0">
                <a:solidFill>
                  <a:srgbClr val="FFFFFF"/>
                </a:solidFill>
                <a:latin typeface="Cambria"/>
              </a:rPr>
              <a:t>What it does, in six simple steps</a:t>
            </a:r>
          </a:p>
        </p:txBody>
      </p:sp>
      <p:sp>
        <p:nvSpPr>
          <p:cNvPr id="5" name="Rounded Rectangle 4"/>
          <p:cNvSpPr/>
          <p:nvPr/>
        </p:nvSpPr>
        <p:spPr>
          <a:xfrm>
            <a:off x="716663" y="1810512"/>
            <a:ext cx="10728192" cy="3328415"/>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flow.png"/>
          <p:cNvPicPr>
            <a:picLocks noChangeAspect="1"/>
          </p:cNvPicPr>
          <p:nvPr/>
        </p:nvPicPr>
        <p:blipFill>
          <a:blip r:embed="rId3"/>
          <a:stretch>
            <a:fillRect/>
          </a:stretch>
        </p:blipFill>
        <p:spPr>
          <a:xfrm>
            <a:off x="826391" y="1920240"/>
            <a:ext cx="10508736" cy="3108960"/>
          </a:xfrm>
          <a:prstGeom prst="rect">
            <a:avLst/>
          </a:prstGeom>
        </p:spPr>
      </p:pic>
      <p:sp>
        <p:nvSpPr>
          <p:cNvPr id="7" name="TextBox 6"/>
          <p:cNvSpPr txBox="1"/>
          <p:nvPr/>
        </p:nvSpPr>
        <p:spPr>
          <a:xfrm>
            <a:off x="777240" y="5577840"/>
            <a:ext cx="10607040" cy="731520"/>
          </a:xfrm>
          <a:prstGeom prst="rect">
            <a:avLst/>
          </a:prstGeom>
          <a:noFill/>
        </p:spPr>
        <p:txBody>
          <a:bodyPr wrap="square" lIns="0" tIns="0" rIns="0" bIns="0" anchor="t">
            <a:spAutoFit/>
          </a:bodyPr>
          <a:lstStyle/>
          <a:p>
            <a:pPr algn="ctr">
              <a:lnSpc>
                <a:spcPct val="100000"/>
              </a:lnSpc>
              <a:spcBef>
                <a:spcPts val="0"/>
              </a:spcBef>
              <a:spcAft>
                <a:spcPts val="600"/>
              </a:spcAft>
            </a:pPr>
            <a:r>
              <a:rPr sz="1500" b="0" i="1">
                <a:solidFill>
                  <a:srgbClr val="9AA8BD"/>
                </a:solidFill>
                <a:latin typeface="Calibri"/>
              </a:rPr>
              <a:t>Live trades come in on the left and become a live dashboard on the right. Each step is a small, well-known tool.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05840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2EE6A6"/>
                </a:solidFill>
                <a:latin typeface="Calibri"/>
              </a:rPr>
              <a:t>HOW IT FITS TOGETHER</a:t>
            </a: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The architecture</a:t>
            </a:r>
          </a:p>
        </p:txBody>
      </p:sp>
      <p:sp>
        <p:nvSpPr>
          <p:cNvPr id="5" name="Rounded Rectangle 4"/>
          <p:cNvSpPr/>
          <p:nvPr/>
        </p:nvSpPr>
        <p:spPr>
          <a:xfrm>
            <a:off x="2486758" y="1719072"/>
            <a:ext cx="7188002" cy="360273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1_architecture.png"/>
          <p:cNvPicPr>
            <a:picLocks noChangeAspect="1"/>
          </p:cNvPicPr>
          <p:nvPr/>
        </p:nvPicPr>
        <p:blipFill>
          <a:blip r:embed="rId3"/>
          <a:stretch>
            <a:fillRect/>
          </a:stretch>
        </p:blipFill>
        <p:spPr>
          <a:xfrm>
            <a:off x="2596486" y="1828800"/>
            <a:ext cx="6968546" cy="3383280"/>
          </a:xfrm>
          <a:prstGeom prst="rect">
            <a:avLst/>
          </a:prstGeom>
        </p:spPr>
      </p:pic>
      <p:sp>
        <p:nvSpPr>
          <p:cNvPr id="7" name="TextBox 6"/>
          <p:cNvSpPr txBox="1"/>
          <p:nvPr/>
        </p:nvSpPr>
        <p:spPr>
          <a:xfrm>
            <a:off x="777240" y="5897880"/>
            <a:ext cx="10607040" cy="731520"/>
          </a:xfrm>
          <a:prstGeom prst="rect">
            <a:avLst/>
          </a:prstGeom>
          <a:noFill/>
        </p:spPr>
        <p:txBody>
          <a:bodyPr wrap="square" lIns="0" tIns="0" rIns="0" bIns="0" anchor="t">
            <a:spAutoFit/>
          </a:bodyPr>
          <a:lstStyle/>
          <a:p>
            <a:pPr algn="ctr">
              <a:lnSpc>
                <a:spcPct val="100000"/>
              </a:lnSpc>
              <a:spcBef>
                <a:spcPts val="0"/>
              </a:spcBef>
              <a:spcAft>
                <a:spcPts val="600"/>
              </a:spcAft>
            </a:pPr>
            <a:r>
              <a:rPr sz="1400" b="0" i="1">
                <a:solidFill>
                  <a:srgbClr val="9AA8BD"/>
                </a:solidFill>
                <a:latin typeface="Calibri"/>
              </a:rPr>
              <a:t>Standard course shape: collect → Kafka → Flink → database → dashboard. Every box is one Docker container; they find each other by name.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05840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2EE6A6"/>
                </a:solidFill>
                <a:latin typeface="Calibri"/>
              </a:rPr>
              <a:t>THE BEST PART</a:t>
            </a: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One command starts everything</a:t>
            </a:r>
          </a:p>
        </p:txBody>
      </p:sp>
      <p:sp>
        <p:nvSpPr>
          <p:cNvPr id="5" name="Rounded Rectangle 4"/>
          <p:cNvSpPr/>
          <p:nvPr/>
        </p:nvSpPr>
        <p:spPr>
          <a:xfrm>
            <a:off x="1785778" y="1764791"/>
            <a:ext cx="8589963" cy="35112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onecommand.png"/>
          <p:cNvPicPr>
            <a:picLocks noChangeAspect="1"/>
          </p:cNvPicPr>
          <p:nvPr/>
        </p:nvPicPr>
        <p:blipFill>
          <a:blip r:embed="rId3"/>
          <a:stretch>
            <a:fillRect/>
          </a:stretch>
        </p:blipFill>
        <p:spPr>
          <a:xfrm>
            <a:off x="1895506" y="1874519"/>
            <a:ext cx="8370507" cy="3291840"/>
          </a:xfrm>
          <a:prstGeom prst="rect">
            <a:avLst/>
          </a:prstGeom>
        </p:spPr>
      </p:pic>
      <p:sp>
        <p:nvSpPr>
          <p:cNvPr id="7" name="TextBox 6"/>
          <p:cNvSpPr txBox="1"/>
          <p:nvPr/>
        </p:nvSpPr>
        <p:spPr>
          <a:xfrm>
            <a:off x="777240" y="5486400"/>
            <a:ext cx="10607040" cy="1123384"/>
          </a:xfrm>
          <a:prstGeom prst="rect">
            <a:avLst/>
          </a:prstGeom>
          <a:noFill/>
        </p:spPr>
        <p:txBody>
          <a:bodyPr wrap="square" lIns="0" tIns="0" rIns="0" bIns="0" anchor="t">
            <a:spAutoFit/>
          </a:bodyPr>
          <a:lstStyle/>
          <a:p>
            <a:pPr algn="ctr">
              <a:lnSpc>
                <a:spcPct val="100000"/>
              </a:lnSpc>
              <a:spcBef>
                <a:spcPts val="0"/>
              </a:spcBef>
              <a:spcAft>
                <a:spcPts val="600"/>
              </a:spcAft>
            </a:pPr>
            <a:r>
              <a:rPr sz="1500" b="0" i="0" dirty="0">
                <a:solidFill>
                  <a:srgbClr val="EAF0F8"/>
                </a:solidFill>
                <a:latin typeface="Calibri"/>
              </a:rPr>
              <a:t>You only install Docker. Then </a:t>
            </a:r>
            <a:r>
              <a:rPr sz="1500" b="1" i="0" dirty="0">
                <a:solidFill>
                  <a:srgbClr val="2EE6A6"/>
                </a:solidFill>
                <a:latin typeface="Consolas"/>
              </a:rPr>
              <a:t>docker compose up -d --build</a:t>
            </a:r>
            <a:r>
              <a:rPr sz="1500" b="0" i="0" dirty="0">
                <a:solidFill>
                  <a:srgbClr val="EAF0F8"/>
                </a:solidFill>
                <a:latin typeface="Calibri"/>
              </a:rPr>
              <a:t> downloads, builds and starts all six parts in the right order — no manual setup.</a:t>
            </a:r>
            <a:endParaRPr lang="en-US" sz="1500" b="0" i="0" dirty="0">
              <a:solidFill>
                <a:srgbClr val="EAF0F8"/>
              </a:solidFill>
              <a:latin typeface="Calibri"/>
            </a:endParaRPr>
          </a:p>
          <a:p>
            <a:pPr algn="ctr">
              <a:lnSpc>
                <a:spcPct val="100000"/>
              </a:lnSpc>
              <a:spcBef>
                <a:spcPts val="0"/>
              </a:spcBef>
              <a:spcAft>
                <a:spcPts val="600"/>
              </a:spcAft>
            </a:pPr>
            <a:endParaRPr lang="en-US" sz="1500" dirty="0">
              <a:solidFill>
                <a:srgbClr val="EAF0F8"/>
              </a:solidFill>
              <a:latin typeface="Calibri"/>
            </a:endParaRPr>
          </a:p>
          <a:p>
            <a:pPr algn="ctr">
              <a:lnSpc>
                <a:spcPct val="100000"/>
              </a:lnSpc>
              <a:spcBef>
                <a:spcPts val="0"/>
              </a:spcBef>
              <a:spcAft>
                <a:spcPts val="600"/>
              </a:spcAft>
            </a:pPr>
            <a:r>
              <a:rPr lang="en-IN" sz="1600" dirty="0">
                <a:solidFill>
                  <a:schemeClr val="bg1"/>
                </a:solidFill>
              </a:rPr>
              <a:t>kafka + </a:t>
            </a:r>
            <a:r>
              <a:rPr lang="en-IN" sz="1600" dirty="0" err="1">
                <a:solidFill>
                  <a:schemeClr val="bg1"/>
                </a:solidFill>
              </a:rPr>
              <a:t>postgres</a:t>
            </a:r>
            <a:r>
              <a:rPr lang="en-IN" sz="1600" dirty="0">
                <a:solidFill>
                  <a:schemeClr val="bg1"/>
                </a:solidFill>
              </a:rPr>
              <a:t> → kafka-</a:t>
            </a:r>
            <a:r>
              <a:rPr lang="en-IN" sz="1600" dirty="0" err="1">
                <a:solidFill>
                  <a:schemeClr val="bg1"/>
                </a:solidFill>
              </a:rPr>
              <a:t>ui</a:t>
            </a:r>
            <a:r>
              <a:rPr lang="en-IN" sz="1600" dirty="0">
                <a:solidFill>
                  <a:schemeClr val="bg1"/>
                </a:solidFill>
              </a:rPr>
              <a:t> + </a:t>
            </a:r>
            <a:r>
              <a:rPr lang="en-IN" sz="1600" dirty="0" err="1">
                <a:solidFill>
                  <a:schemeClr val="bg1"/>
                </a:solidFill>
              </a:rPr>
              <a:t>grafana</a:t>
            </a:r>
            <a:r>
              <a:rPr lang="en-IN" sz="1600" dirty="0">
                <a:solidFill>
                  <a:schemeClr val="bg1"/>
                </a:solidFill>
              </a:rPr>
              <a:t> + producer → </a:t>
            </a:r>
            <a:r>
              <a:rPr lang="en-IN" sz="1600" dirty="0" err="1">
                <a:solidFill>
                  <a:schemeClr val="bg1"/>
                </a:solidFill>
              </a:rPr>
              <a:t>flink</a:t>
            </a:r>
            <a:r>
              <a:rPr lang="en-IN" sz="1600" dirty="0">
                <a:solidFill>
                  <a:schemeClr val="bg1"/>
                </a:solidFill>
              </a:rPr>
              <a:t>-processor</a:t>
            </a:r>
            <a:endParaRPr sz="1500" b="0" i="0" dirty="0">
              <a:solidFill>
                <a:schemeClr val="bg1"/>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05840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a:solidFill>
                  <a:srgbClr val="2EE6A6"/>
                </a:solidFill>
                <a:latin typeface="Calibri"/>
              </a:rPr>
              <a:t>STEP BY STEP</a:t>
            </a: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How one trade travels through the system</a:t>
            </a:r>
          </a:p>
        </p:txBody>
      </p:sp>
      <p:sp>
        <p:nvSpPr>
          <p:cNvPr id="5" name="Rounded Rectangle 4"/>
          <p:cNvSpPr/>
          <p:nvPr/>
        </p:nvSpPr>
        <p:spPr>
          <a:xfrm>
            <a:off x="766533" y="1609344"/>
            <a:ext cx="6834555" cy="38770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2_sequence.png"/>
          <p:cNvPicPr>
            <a:picLocks noChangeAspect="1"/>
          </p:cNvPicPr>
          <p:nvPr/>
        </p:nvPicPr>
        <p:blipFill>
          <a:blip r:embed="rId3"/>
          <a:stretch>
            <a:fillRect/>
          </a:stretch>
        </p:blipFill>
        <p:spPr>
          <a:xfrm>
            <a:off x="876261" y="1719072"/>
            <a:ext cx="6615099" cy="3657600"/>
          </a:xfrm>
          <a:prstGeom prst="rect">
            <a:avLst/>
          </a:prstGeom>
        </p:spPr>
      </p:pic>
      <p:sp>
        <p:nvSpPr>
          <p:cNvPr id="7" name="TextBox 6"/>
          <p:cNvSpPr txBox="1"/>
          <p:nvPr/>
        </p:nvSpPr>
        <p:spPr>
          <a:xfrm>
            <a:off x="766533" y="5826954"/>
            <a:ext cx="6834555" cy="1015663"/>
          </a:xfrm>
          <a:prstGeom prst="rect">
            <a:avLst/>
          </a:prstGeom>
          <a:noFill/>
        </p:spPr>
        <p:txBody>
          <a:bodyPr wrap="square" lIns="0" tIns="0" rIns="0" bIns="0" anchor="t">
            <a:spAutoFit/>
          </a:bodyPr>
          <a:lstStyle/>
          <a:p>
            <a:pPr>
              <a:lnSpc>
                <a:spcPct val="100000"/>
              </a:lnSpc>
              <a:spcBef>
                <a:spcPts val="0"/>
              </a:spcBef>
              <a:spcAft>
                <a:spcPts val="600"/>
              </a:spcAft>
            </a:pPr>
            <a:r>
              <a:rPr sz="1400" b="0" i="1" dirty="0">
                <a:solidFill>
                  <a:srgbClr val="9AA8BD"/>
                </a:solidFill>
                <a:latin typeface="Calibri"/>
              </a:rPr>
              <a:t>Get trade → put in Kafka → Flink reads it → make candles + check patterns → save to database → dashboard shows it. This repeats forever.</a:t>
            </a:r>
            <a:endParaRPr lang="en-US" sz="1400" b="0" i="1" dirty="0">
              <a:solidFill>
                <a:srgbClr val="9AA8BD"/>
              </a:solidFill>
              <a:latin typeface="Calibri"/>
            </a:endParaRPr>
          </a:p>
          <a:p>
            <a:pPr>
              <a:spcAft>
                <a:spcPts val="600"/>
              </a:spcAft>
            </a:pPr>
            <a:r>
              <a:rPr lang="en-US" sz="1400" i="1" dirty="0">
                <a:solidFill>
                  <a:srgbClr val="9AA8BD"/>
                </a:solidFill>
                <a:latin typeface="Calibri"/>
              </a:rPr>
              <a:t>Every 30 seconds Flink checkpoints state to disk so a crash resumes cleanly.</a:t>
            </a:r>
          </a:p>
          <a:p>
            <a:pPr algn="ctr">
              <a:lnSpc>
                <a:spcPct val="100000"/>
              </a:lnSpc>
              <a:spcBef>
                <a:spcPts val="0"/>
              </a:spcBef>
              <a:spcAft>
                <a:spcPts val="600"/>
              </a:spcAft>
            </a:pPr>
            <a:endParaRPr sz="1400" b="0" i="1" dirty="0">
              <a:solidFill>
                <a:srgbClr val="9AA8BD"/>
              </a:solidFill>
              <a:latin typeface="Calibri"/>
            </a:endParaRPr>
          </a:p>
        </p:txBody>
      </p:sp>
      <p:sp>
        <p:nvSpPr>
          <p:cNvPr id="9" name="Shape 2">
            <a:extLst>
              <a:ext uri="{FF2B5EF4-FFF2-40B4-BE49-F238E27FC236}">
                <a16:creationId xmlns:a16="http://schemas.microsoft.com/office/drawing/2014/main" id="{CE90D254-5A56-8F6F-8BA8-B041CE46B19F}"/>
              </a:ext>
            </a:extLst>
          </p:cNvPr>
          <p:cNvSpPr/>
          <p:nvPr/>
        </p:nvSpPr>
        <p:spPr>
          <a:xfrm>
            <a:off x="8191513" y="1403520"/>
            <a:ext cx="3094320" cy="730207"/>
          </a:xfrm>
          <a:prstGeom prst="roundRect">
            <a:avLst>
              <a:gd name="adj" fmla="val 7619"/>
            </a:avLst>
          </a:prstGeom>
          <a:solidFill>
            <a:srgbClr val="1A2840"/>
          </a:solidFill>
          <a:ln w="6350">
            <a:solidFill>
              <a:srgbClr val="00C896"/>
            </a:solidFill>
            <a:prstDash val="solid"/>
          </a:ln>
        </p:spPr>
        <p:txBody>
          <a:bodyPr/>
          <a:lstStyle/>
          <a:p>
            <a:pPr defTabSz="1219170"/>
            <a:endParaRPr lang="en-IN" sz="1100">
              <a:solidFill>
                <a:prstClr val="black"/>
              </a:solidFill>
              <a:latin typeface="Calibri" panose="020F0502020204030204"/>
            </a:endParaRPr>
          </a:p>
        </p:txBody>
      </p:sp>
      <p:sp>
        <p:nvSpPr>
          <p:cNvPr id="11" name="Shape 3">
            <a:extLst>
              <a:ext uri="{FF2B5EF4-FFF2-40B4-BE49-F238E27FC236}">
                <a16:creationId xmlns:a16="http://schemas.microsoft.com/office/drawing/2014/main" id="{4AB74A32-E419-C487-D960-29921487C7D8}"/>
              </a:ext>
            </a:extLst>
          </p:cNvPr>
          <p:cNvSpPr/>
          <p:nvPr/>
        </p:nvSpPr>
        <p:spPr>
          <a:xfrm>
            <a:off x="8313431" y="1525440"/>
            <a:ext cx="374039" cy="222539"/>
          </a:xfrm>
          <a:prstGeom prst="roundRect">
            <a:avLst>
              <a:gd name="adj" fmla="val 15625"/>
            </a:avLst>
          </a:prstGeom>
          <a:solidFill>
            <a:srgbClr val="00C896"/>
          </a:solidFill>
          <a:ln w="12700">
            <a:solidFill>
              <a:srgbClr val="00C896"/>
            </a:solidFill>
            <a:prstDash val="solid"/>
          </a:ln>
        </p:spPr>
        <p:txBody>
          <a:bodyPr/>
          <a:lstStyle/>
          <a:p>
            <a:pPr defTabSz="1219170"/>
            <a:endParaRPr lang="en-IN" sz="1100">
              <a:solidFill>
                <a:prstClr val="black"/>
              </a:solidFill>
              <a:latin typeface="Calibri" panose="020F0502020204030204"/>
            </a:endParaRPr>
          </a:p>
        </p:txBody>
      </p:sp>
      <p:sp>
        <p:nvSpPr>
          <p:cNvPr id="13" name="Text 4">
            <a:extLst>
              <a:ext uri="{FF2B5EF4-FFF2-40B4-BE49-F238E27FC236}">
                <a16:creationId xmlns:a16="http://schemas.microsoft.com/office/drawing/2014/main" id="{97E6C728-5AFF-081D-B29F-A7268CA13510}"/>
              </a:ext>
            </a:extLst>
          </p:cNvPr>
          <p:cNvSpPr/>
          <p:nvPr/>
        </p:nvSpPr>
        <p:spPr>
          <a:xfrm>
            <a:off x="8313431" y="1525439"/>
            <a:ext cx="456142" cy="227693"/>
          </a:xfrm>
          <a:prstGeom prst="rect">
            <a:avLst/>
          </a:prstGeom>
          <a:noFill/>
          <a:ln/>
        </p:spPr>
        <p:txBody>
          <a:bodyPr wrap="square" rtlCol="0" anchor="ctr"/>
          <a:lstStyle/>
          <a:p>
            <a:pPr algn="ctr" defTabSz="1219170"/>
            <a:r>
              <a:rPr lang="en-US" sz="800" b="1" dirty="0">
                <a:solidFill>
                  <a:srgbClr val="0D1320"/>
                </a:solidFill>
                <a:latin typeface="Calibri" pitchFamily="34" charset="0"/>
                <a:ea typeface="Calibri" pitchFamily="34" charset="-122"/>
                <a:cs typeface="Calibri" pitchFamily="34" charset="-120"/>
              </a:rPr>
              <a:t>1–2</a:t>
            </a:r>
            <a:endParaRPr lang="en-US" sz="800" dirty="0">
              <a:solidFill>
                <a:prstClr val="black"/>
              </a:solidFill>
              <a:latin typeface="Calibri" panose="020F0502020204030204"/>
            </a:endParaRPr>
          </a:p>
        </p:txBody>
      </p:sp>
      <p:sp>
        <p:nvSpPr>
          <p:cNvPr id="15" name="Text 5">
            <a:extLst>
              <a:ext uri="{FF2B5EF4-FFF2-40B4-BE49-F238E27FC236}">
                <a16:creationId xmlns:a16="http://schemas.microsoft.com/office/drawing/2014/main" id="{B7A6FB4B-5B8C-D533-2BE1-54FF67664B0E}"/>
              </a:ext>
            </a:extLst>
          </p:cNvPr>
          <p:cNvSpPr/>
          <p:nvPr/>
        </p:nvSpPr>
        <p:spPr>
          <a:xfrm>
            <a:off x="8784526" y="1449992"/>
            <a:ext cx="2516260" cy="208631"/>
          </a:xfrm>
          <a:prstGeom prst="rect">
            <a:avLst/>
          </a:prstGeom>
          <a:noFill/>
          <a:ln/>
        </p:spPr>
        <p:txBody>
          <a:bodyPr wrap="square" rtlCol="0" anchor="ctr"/>
          <a:lstStyle/>
          <a:p>
            <a:pPr defTabSz="1219170"/>
            <a:r>
              <a:rPr lang="en-US" sz="900" b="1" dirty="0">
                <a:solidFill>
                  <a:srgbClr val="00C896"/>
                </a:solidFill>
                <a:latin typeface="Calibri" pitchFamily="34" charset="0"/>
                <a:ea typeface="Calibri" pitchFamily="34" charset="-122"/>
                <a:cs typeface="Calibri" pitchFamily="34" charset="-120"/>
              </a:rPr>
              <a:t>Get the trade</a:t>
            </a:r>
            <a:endParaRPr lang="en-US" sz="900" dirty="0">
              <a:solidFill>
                <a:prstClr val="black"/>
              </a:solidFill>
              <a:latin typeface="Calibri" panose="020F0502020204030204"/>
            </a:endParaRPr>
          </a:p>
        </p:txBody>
      </p:sp>
      <p:sp>
        <p:nvSpPr>
          <p:cNvPr id="17" name="Text 6">
            <a:extLst>
              <a:ext uri="{FF2B5EF4-FFF2-40B4-BE49-F238E27FC236}">
                <a16:creationId xmlns:a16="http://schemas.microsoft.com/office/drawing/2014/main" id="{2B9B518E-F97F-C8BA-B175-CDE58D168349}"/>
              </a:ext>
            </a:extLst>
          </p:cNvPr>
          <p:cNvSpPr/>
          <p:nvPr/>
        </p:nvSpPr>
        <p:spPr>
          <a:xfrm>
            <a:off x="8784526" y="1648466"/>
            <a:ext cx="2516260" cy="382490"/>
          </a:xfrm>
          <a:prstGeom prst="rect">
            <a:avLst/>
          </a:prstGeom>
          <a:noFill/>
          <a:ln/>
        </p:spPr>
        <p:txBody>
          <a:bodyPr wrap="square" rtlCol="0" anchor="t"/>
          <a:lstStyle/>
          <a:p>
            <a:pPr defTabSz="1219170"/>
            <a:r>
              <a:rPr lang="en-US" sz="800" dirty="0">
                <a:solidFill>
                  <a:srgbClr val="8FA8C8"/>
                </a:solidFill>
                <a:latin typeface="Calibri" pitchFamily="34" charset="0"/>
                <a:ea typeface="Calibri" pitchFamily="34" charset="-122"/>
                <a:cs typeface="Calibri" pitchFamily="34" charset="-120"/>
              </a:rPr>
              <a:t>Binance sends a trade. The Python collector reads it and cleans it up.</a:t>
            </a:r>
            <a:endParaRPr lang="en-US" sz="800" dirty="0">
              <a:solidFill>
                <a:prstClr val="black"/>
              </a:solidFill>
              <a:latin typeface="Calibri" panose="020F0502020204030204"/>
            </a:endParaRPr>
          </a:p>
        </p:txBody>
      </p:sp>
      <p:sp>
        <p:nvSpPr>
          <p:cNvPr id="19" name="Shape 7">
            <a:extLst>
              <a:ext uri="{FF2B5EF4-FFF2-40B4-BE49-F238E27FC236}">
                <a16:creationId xmlns:a16="http://schemas.microsoft.com/office/drawing/2014/main" id="{1A7693F7-4F9B-BDE2-38B7-D1C66A4B217A}"/>
              </a:ext>
            </a:extLst>
          </p:cNvPr>
          <p:cNvSpPr/>
          <p:nvPr/>
        </p:nvSpPr>
        <p:spPr>
          <a:xfrm>
            <a:off x="8206466" y="2276725"/>
            <a:ext cx="3094320" cy="730207"/>
          </a:xfrm>
          <a:prstGeom prst="roundRect">
            <a:avLst>
              <a:gd name="adj" fmla="val 7619"/>
            </a:avLst>
          </a:prstGeom>
          <a:solidFill>
            <a:srgbClr val="1A2840"/>
          </a:solidFill>
          <a:ln w="6350">
            <a:solidFill>
              <a:srgbClr val="FFB300"/>
            </a:solidFill>
            <a:prstDash val="solid"/>
          </a:ln>
        </p:spPr>
        <p:txBody>
          <a:bodyPr/>
          <a:lstStyle/>
          <a:p>
            <a:pPr defTabSz="1219170"/>
            <a:endParaRPr lang="en-IN" sz="1100">
              <a:solidFill>
                <a:prstClr val="black"/>
              </a:solidFill>
              <a:latin typeface="Calibri" panose="020F0502020204030204"/>
            </a:endParaRPr>
          </a:p>
        </p:txBody>
      </p:sp>
      <p:sp>
        <p:nvSpPr>
          <p:cNvPr id="21" name="Shape 8">
            <a:extLst>
              <a:ext uri="{FF2B5EF4-FFF2-40B4-BE49-F238E27FC236}">
                <a16:creationId xmlns:a16="http://schemas.microsoft.com/office/drawing/2014/main" id="{C1FA1A44-9981-EFE5-62D8-23F84B431C80}"/>
              </a:ext>
            </a:extLst>
          </p:cNvPr>
          <p:cNvSpPr/>
          <p:nvPr/>
        </p:nvSpPr>
        <p:spPr>
          <a:xfrm>
            <a:off x="8328384" y="2398645"/>
            <a:ext cx="374039" cy="222539"/>
          </a:xfrm>
          <a:prstGeom prst="roundRect">
            <a:avLst>
              <a:gd name="adj" fmla="val 15625"/>
            </a:avLst>
          </a:prstGeom>
          <a:solidFill>
            <a:srgbClr val="FFB300"/>
          </a:solidFill>
          <a:ln w="12700">
            <a:solidFill>
              <a:srgbClr val="FFB300"/>
            </a:solidFill>
            <a:prstDash val="solid"/>
          </a:ln>
        </p:spPr>
        <p:txBody>
          <a:bodyPr/>
          <a:lstStyle/>
          <a:p>
            <a:pPr defTabSz="1219170"/>
            <a:endParaRPr lang="en-IN" sz="1100">
              <a:solidFill>
                <a:prstClr val="black"/>
              </a:solidFill>
              <a:latin typeface="Calibri" panose="020F0502020204030204"/>
            </a:endParaRPr>
          </a:p>
        </p:txBody>
      </p:sp>
      <p:sp>
        <p:nvSpPr>
          <p:cNvPr id="23" name="Text 9">
            <a:extLst>
              <a:ext uri="{FF2B5EF4-FFF2-40B4-BE49-F238E27FC236}">
                <a16:creationId xmlns:a16="http://schemas.microsoft.com/office/drawing/2014/main" id="{71E023D5-3F00-939A-3A00-B4E55332B21F}"/>
              </a:ext>
            </a:extLst>
          </p:cNvPr>
          <p:cNvSpPr/>
          <p:nvPr/>
        </p:nvSpPr>
        <p:spPr>
          <a:xfrm>
            <a:off x="8328384" y="2398644"/>
            <a:ext cx="456142" cy="227693"/>
          </a:xfrm>
          <a:prstGeom prst="rect">
            <a:avLst/>
          </a:prstGeom>
          <a:noFill/>
          <a:ln/>
        </p:spPr>
        <p:txBody>
          <a:bodyPr wrap="square" rtlCol="0" anchor="ctr"/>
          <a:lstStyle/>
          <a:p>
            <a:pPr algn="ctr" defTabSz="1219170"/>
            <a:r>
              <a:rPr lang="en-US" sz="800" b="1" dirty="0">
                <a:solidFill>
                  <a:srgbClr val="0D1320"/>
                </a:solidFill>
                <a:latin typeface="Calibri" pitchFamily="34" charset="0"/>
                <a:ea typeface="Calibri" pitchFamily="34" charset="-122"/>
                <a:cs typeface="Calibri" pitchFamily="34" charset="-120"/>
              </a:rPr>
              <a:t>3</a:t>
            </a:r>
            <a:endParaRPr lang="en-US" sz="800" dirty="0">
              <a:solidFill>
                <a:prstClr val="black"/>
              </a:solidFill>
              <a:latin typeface="Calibri" panose="020F0502020204030204"/>
            </a:endParaRPr>
          </a:p>
        </p:txBody>
      </p:sp>
      <p:sp>
        <p:nvSpPr>
          <p:cNvPr id="25" name="Text 10">
            <a:extLst>
              <a:ext uri="{FF2B5EF4-FFF2-40B4-BE49-F238E27FC236}">
                <a16:creationId xmlns:a16="http://schemas.microsoft.com/office/drawing/2014/main" id="{346E597D-76B0-10EB-69C3-9CE7A19C38B2}"/>
              </a:ext>
            </a:extLst>
          </p:cNvPr>
          <p:cNvSpPr/>
          <p:nvPr/>
        </p:nvSpPr>
        <p:spPr>
          <a:xfrm>
            <a:off x="8799479" y="2323197"/>
            <a:ext cx="2516260" cy="208631"/>
          </a:xfrm>
          <a:prstGeom prst="rect">
            <a:avLst/>
          </a:prstGeom>
          <a:noFill/>
          <a:ln/>
        </p:spPr>
        <p:txBody>
          <a:bodyPr wrap="square" rtlCol="0" anchor="ctr"/>
          <a:lstStyle/>
          <a:p>
            <a:pPr defTabSz="1219170"/>
            <a:r>
              <a:rPr lang="en-US" sz="900" b="1" dirty="0">
                <a:solidFill>
                  <a:srgbClr val="FFB300"/>
                </a:solidFill>
                <a:latin typeface="Calibri" pitchFamily="34" charset="0"/>
                <a:ea typeface="Calibri" pitchFamily="34" charset="-122"/>
                <a:cs typeface="Calibri" pitchFamily="34" charset="-120"/>
              </a:rPr>
              <a:t>Put in Kafka</a:t>
            </a:r>
            <a:endParaRPr lang="en-US" sz="900" dirty="0">
              <a:solidFill>
                <a:prstClr val="black"/>
              </a:solidFill>
              <a:latin typeface="Calibri" panose="020F0502020204030204"/>
            </a:endParaRPr>
          </a:p>
        </p:txBody>
      </p:sp>
      <p:sp>
        <p:nvSpPr>
          <p:cNvPr id="27" name="Text 11">
            <a:extLst>
              <a:ext uri="{FF2B5EF4-FFF2-40B4-BE49-F238E27FC236}">
                <a16:creationId xmlns:a16="http://schemas.microsoft.com/office/drawing/2014/main" id="{D48AECB9-61D1-0FD9-C6DC-1EDDEC17AD94}"/>
              </a:ext>
            </a:extLst>
          </p:cNvPr>
          <p:cNvSpPr/>
          <p:nvPr/>
        </p:nvSpPr>
        <p:spPr>
          <a:xfrm>
            <a:off x="8799479" y="2521671"/>
            <a:ext cx="2516260" cy="382490"/>
          </a:xfrm>
          <a:prstGeom prst="rect">
            <a:avLst/>
          </a:prstGeom>
          <a:noFill/>
          <a:ln/>
        </p:spPr>
        <p:txBody>
          <a:bodyPr wrap="square" rtlCol="0" anchor="t"/>
          <a:lstStyle/>
          <a:p>
            <a:pPr defTabSz="1219170"/>
            <a:r>
              <a:rPr lang="en-US" sz="800" dirty="0">
                <a:solidFill>
                  <a:srgbClr val="8FA8C8"/>
                </a:solidFill>
                <a:latin typeface="Calibri" pitchFamily="34" charset="0"/>
                <a:ea typeface="Calibri" pitchFamily="34" charset="-122"/>
                <a:cs typeface="Calibri" pitchFamily="34" charset="-120"/>
              </a:rPr>
              <a:t>The collector puts the trade into Kafka on the lane for that coin.</a:t>
            </a:r>
            <a:endParaRPr lang="en-US" sz="800" dirty="0">
              <a:solidFill>
                <a:prstClr val="black"/>
              </a:solidFill>
              <a:latin typeface="Calibri" panose="020F0502020204030204"/>
            </a:endParaRPr>
          </a:p>
        </p:txBody>
      </p:sp>
      <p:sp>
        <p:nvSpPr>
          <p:cNvPr id="29" name="Shape 12">
            <a:extLst>
              <a:ext uri="{FF2B5EF4-FFF2-40B4-BE49-F238E27FC236}">
                <a16:creationId xmlns:a16="http://schemas.microsoft.com/office/drawing/2014/main" id="{343B8CF8-3E21-4C86-EF20-0B2371889D78}"/>
              </a:ext>
            </a:extLst>
          </p:cNvPr>
          <p:cNvSpPr/>
          <p:nvPr/>
        </p:nvSpPr>
        <p:spPr>
          <a:xfrm>
            <a:off x="8206466" y="3167943"/>
            <a:ext cx="3094320" cy="730207"/>
          </a:xfrm>
          <a:prstGeom prst="roundRect">
            <a:avLst>
              <a:gd name="adj" fmla="val 7619"/>
            </a:avLst>
          </a:prstGeom>
          <a:solidFill>
            <a:srgbClr val="1A2840"/>
          </a:solidFill>
          <a:ln w="6350">
            <a:solidFill>
              <a:srgbClr val="AB47BC"/>
            </a:solidFill>
            <a:prstDash val="solid"/>
          </a:ln>
        </p:spPr>
        <p:txBody>
          <a:bodyPr/>
          <a:lstStyle/>
          <a:p>
            <a:pPr defTabSz="1219170"/>
            <a:endParaRPr lang="en-IN" sz="1100">
              <a:solidFill>
                <a:prstClr val="black"/>
              </a:solidFill>
              <a:latin typeface="Calibri" panose="020F0502020204030204"/>
            </a:endParaRPr>
          </a:p>
        </p:txBody>
      </p:sp>
      <p:sp>
        <p:nvSpPr>
          <p:cNvPr id="31" name="Shape 13">
            <a:extLst>
              <a:ext uri="{FF2B5EF4-FFF2-40B4-BE49-F238E27FC236}">
                <a16:creationId xmlns:a16="http://schemas.microsoft.com/office/drawing/2014/main" id="{479211FC-141D-9A90-8840-D65A8FBD556E}"/>
              </a:ext>
            </a:extLst>
          </p:cNvPr>
          <p:cNvSpPr/>
          <p:nvPr/>
        </p:nvSpPr>
        <p:spPr>
          <a:xfrm>
            <a:off x="8328384" y="3289863"/>
            <a:ext cx="374039" cy="222539"/>
          </a:xfrm>
          <a:prstGeom prst="roundRect">
            <a:avLst>
              <a:gd name="adj" fmla="val 15625"/>
            </a:avLst>
          </a:prstGeom>
          <a:solidFill>
            <a:srgbClr val="AB47BC"/>
          </a:solidFill>
          <a:ln w="12700">
            <a:solidFill>
              <a:srgbClr val="AB47BC"/>
            </a:solidFill>
            <a:prstDash val="solid"/>
          </a:ln>
        </p:spPr>
        <p:txBody>
          <a:bodyPr/>
          <a:lstStyle/>
          <a:p>
            <a:pPr defTabSz="1219170"/>
            <a:endParaRPr lang="en-IN" sz="1100">
              <a:solidFill>
                <a:prstClr val="black"/>
              </a:solidFill>
              <a:latin typeface="Calibri" panose="020F0502020204030204"/>
            </a:endParaRPr>
          </a:p>
        </p:txBody>
      </p:sp>
      <p:sp>
        <p:nvSpPr>
          <p:cNvPr id="33" name="Text 14">
            <a:extLst>
              <a:ext uri="{FF2B5EF4-FFF2-40B4-BE49-F238E27FC236}">
                <a16:creationId xmlns:a16="http://schemas.microsoft.com/office/drawing/2014/main" id="{B8A36248-BDB4-26A6-B0C5-CE949D7D3D94}"/>
              </a:ext>
            </a:extLst>
          </p:cNvPr>
          <p:cNvSpPr/>
          <p:nvPr/>
        </p:nvSpPr>
        <p:spPr>
          <a:xfrm>
            <a:off x="8328384" y="3289862"/>
            <a:ext cx="456142" cy="227693"/>
          </a:xfrm>
          <a:prstGeom prst="rect">
            <a:avLst/>
          </a:prstGeom>
          <a:noFill/>
          <a:ln/>
        </p:spPr>
        <p:txBody>
          <a:bodyPr wrap="square" rtlCol="0" anchor="ctr"/>
          <a:lstStyle/>
          <a:p>
            <a:pPr algn="ctr" defTabSz="1219170"/>
            <a:r>
              <a:rPr lang="en-US" sz="800" b="1" dirty="0">
                <a:solidFill>
                  <a:srgbClr val="0D1320"/>
                </a:solidFill>
                <a:latin typeface="Calibri" pitchFamily="34" charset="0"/>
                <a:ea typeface="Calibri" pitchFamily="34" charset="-122"/>
                <a:cs typeface="Calibri" pitchFamily="34" charset="-120"/>
              </a:rPr>
              <a:t>4–5</a:t>
            </a:r>
            <a:endParaRPr lang="en-US" sz="800" dirty="0">
              <a:solidFill>
                <a:prstClr val="black"/>
              </a:solidFill>
              <a:latin typeface="Calibri" panose="020F0502020204030204"/>
            </a:endParaRPr>
          </a:p>
        </p:txBody>
      </p:sp>
      <p:sp>
        <p:nvSpPr>
          <p:cNvPr id="35" name="Text 15">
            <a:extLst>
              <a:ext uri="{FF2B5EF4-FFF2-40B4-BE49-F238E27FC236}">
                <a16:creationId xmlns:a16="http://schemas.microsoft.com/office/drawing/2014/main" id="{6F17B19E-2F61-CD38-72A0-CDB27C238B17}"/>
              </a:ext>
            </a:extLst>
          </p:cNvPr>
          <p:cNvSpPr/>
          <p:nvPr/>
        </p:nvSpPr>
        <p:spPr>
          <a:xfrm>
            <a:off x="8799479" y="3214415"/>
            <a:ext cx="2516260" cy="208631"/>
          </a:xfrm>
          <a:prstGeom prst="rect">
            <a:avLst/>
          </a:prstGeom>
          <a:noFill/>
          <a:ln/>
        </p:spPr>
        <p:txBody>
          <a:bodyPr wrap="square" rtlCol="0" anchor="ctr"/>
          <a:lstStyle/>
          <a:p>
            <a:pPr defTabSz="1219170"/>
            <a:r>
              <a:rPr lang="en-US" sz="900" b="1" dirty="0">
                <a:solidFill>
                  <a:srgbClr val="AB47BC"/>
                </a:solidFill>
                <a:latin typeface="Calibri" pitchFamily="34" charset="0"/>
                <a:ea typeface="Calibri" pitchFamily="34" charset="-122"/>
                <a:cs typeface="Calibri" pitchFamily="34" charset="-120"/>
              </a:rPr>
              <a:t>Flink reads it</a:t>
            </a:r>
            <a:endParaRPr lang="en-US" sz="900" dirty="0">
              <a:solidFill>
                <a:prstClr val="black"/>
              </a:solidFill>
              <a:latin typeface="Calibri" panose="020F0502020204030204"/>
            </a:endParaRPr>
          </a:p>
        </p:txBody>
      </p:sp>
      <p:sp>
        <p:nvSpPr>
          <p:cNvPr id="37" name="Text 16">
            <a:extLst>
              <a:ext uri="{FF2B5EF4-FFF2-40B4-BE49-F238E27FC236}">
                <a16:creationId xmlns:a16="http://schemas.microsoft.com/office/drawing/2014/main" id="{559BCF76-064D-FC5F-2B99-B2F3EEEBB041}"/>
              </a:ext>
            </a:extLst>
          </p:cNvPr>
          <p:cNvSpPr/>
          <p:nvPr/>
        </p:nvSpPr>
        <p:spPr>
          <a:xfrm>
            <a:off x="8799479" y="3412889"/>
            <a:ext cx="2516260" cy="382490"/>
          </a:xfrm>
          <a:prstGeom prst="rect">
            <a:avLst/>
          </a:prstGeom>
          <a:noFill/>
          <a:ln/>
        </p:spPr>
        <p:txBody>
          <a:bodyPr wrap="square" rtlCol="0" anchor="t"/>
          <a:lstStyle/>
          <a:p>
            <a:pPr defTabSz="1219170"/>
            <a:r>
              <a:rPr lang="en-US" sz="800" dirty="0">
                <a:solidFill>
                  <a:srgbClr val="8FA8C8"/>
                </a:solidFill>
                <a:latin typeface="Calibri" pitchFamily="34" charset="0"/>
                <a:ea typeface="Calibri" pitchFamily="34" charset="-122"/>
                <a:cs typeface="Calibri" pitchFamily="34" charset="-120"/>
              </a:rPr>
              <a:t>Flink takes the trade using event timestamp and assigns a watermark.</a:t>
            </a:r>
            <a:endParaRPr lang="en-US" sz="800" dirty="0">
              <a:solidFill>
                <a:prstClr val="black"/>
              </a:solidFill>
              <a:latin typeface="Calibri" panose="020F0502020204030204"/>
            </a:endParaRPr>
          </a:p>
        </p:txBody>
      </p:sp>
      <p:sp>
        <p:nvSpPr>
          <p:cNvPr id="39" name="Shape 17">
            <a:extLst>
              <a:ext uri="{FF2B5EF4-FFF2-40B4-BE49-F238E27FC236}">
                <a16:creationId xmlns:a16="http://schemas.microsoft.com/office/drawing/2014/main" id="{F7D88DB1-0C68-B29D-70A2-744F52CBF6CB}"/>
              </a:ext>
            </a:extLst>
          </p:cNvPr>
          <p:cNvSpPr/>
          <p:nvPr/>
        </p:nvSpPr>
        <p:spPr>
          <a:xfrm>
            <a:off x="8221419" y="4126846"/>
            <a:ext cx="3094320" cy="730207"/>
          </a:xfrm>
          <a:prstGeom prst="roundRect">
            <a:avLst>
              <a:gd name="adj" fmla="val 7619"/>
            </a:avLst>
          </a:prstGeom>
          <a:solidFill>
            <a:srgbClr val="1A2840"/>
          </a:solidFill>
          <a:ln w="6350">
            <a:solidFill>
              <a:srgbClr val="4FC3F7"/>
            </a:solidFill>
            <a:prstDash val="solid"/>
          </a:ln>
        </p:spPr>
        <p:txBody>
          <a:bodyPr/>
          <a:lstStyle/>
          <a:p>
            <a:pPr defTabSz="1219170"/>
            <a:endParaRPr lang="en-IN" sz="1100">
              <a:solidFill>
                <a:prstClr val="black"/>
              </a:solidFill>
              <a:latin typeface="Calibri" panose="020F0502020204030204"/>
            </a:endParaRPr>
          </a:p>
        </p:txBody>
      </p:sp>
      <p:sp>
        <p:nvSpPr>
          <p:cNvPr id="41" name="Shape 18">
            <a:extLst>
              <a:ext uri="{FF2B5EF4-FFF2-40B4-BE49-F238E27FC236}">
                <a16:creationId xmlns:a16="http://schemas.microsoft.com/office/drawing/2014/main" id="{49963F3E-8B03-DA33-2BB9-C8BD972BBF56}"/>
              </a:ext>
            </a:extLst>
          </p:cNvPr>
          <p:cNvSpPr/>
          <p:nvPr/>
        </p:nvSpPr>
        <p:spPr>
          <a:xfrm>
            <a:off x="8343337" y="4248765"/>
            <a:ext cx="456142" cy="227693"/>
          </a:xfrm>
          <a:prstGeom prst="roundRect">
            <a:avLst>
              <a:gd name="adj" fmla="val 15625"/>
            </a:avLst>
          </a:prstGeom>
          <a:solidFill>
            <a:srgbClr val="4FC3F7"/>
          </a:solidFill>
          <a:ln w="12700">
            <a:solidFill>
              <a:srgbClr val="4FC3F7"/>
            </a:solidFill>
            <a:prstDash val="solid"/>
          </a:ln>
        </p:spPr>
        <p:txBody>
          <a:bodyPr/>
          <a:lstStyle/>
          <a:p>
            <a:pPr defTabSz="1219170"/>
            <a:endParaRPr lang="en-IN" sz="1100">
              <a:solidFill>
                <a:prstClr val="black"/>
              </a:solidFill>
              <a:latin typeface="Calibri" panose="020F0502020204030204"/>
            </a:endParaRPr>
          </a:p>
        </p:txBody>
      </p:sp>
      <p:sp>
        <p:nvSpPr>
          <p:cNvPr id="43" name="Text 19">
            <a:extLst>
              <a:ext uri="{FF2B5EF4-FFF2-40B4-BE49-F238E27FC236}">
                <a16:creationId xmlns:a16="http://schemas.microsoft.com/office/drawing/2014/main" id="{7831098A-FD2B-48E3-5426-53911B24A8EC}"/>
              </a:ext>
            </a:extLst>
          </p:cNvPr>
          <p:cNvSpPr/>
          <p:nvPr/>
        </p:nvSpPr>
        <p:spPr>
          <a:xfrm>
            <a:off x="8343337" y="4248766"/>
            <a:ext cx="374039" cy="222539"/>
          </a:xfrm>
          <a:prstGeom prst="rect">
            <a:avLst/>
          </a:prstGeom>
          <a:noFill/>
          <a:ln/>
        </p:spPr>
        <p:txBody>
          <a:bodyPr wrap="square" rtlCol="0" anchor="ctr"/>
          <a:lstStyle/>
          <a:p>
            <a:pPr algn="ctr" defTabSz="1219170"/>
            <a:r>
              <a:rPr lang="en-US" sz="800" b="1" dirty="0">
                <a:solidFill>
                  <a:srgbClr val="0D1320"/>
                </a:solidFill>
                <a:latin typeface="Calibri" pitchFamily="34" charset="0"/>
                <a:ea typeface="Calibri" pitchFamily="34" charset="-122"/>
                <a:cs typeface="Calibri" pitchFamily="34" charset="-120"/>
              </a:rPr>
              <a:t>6</a:t>
            </a:r>
            <a:endParaRPr lang="en-US" sz="800" dirty="0">
              <a:solidFill>
                <a:prstClr val="black"/>
              </a:solidFill>
              <a:latin typeface="Calibri" panose="020F0502020204030204"/>
            </a:endParaRPr>
          </a:p>
        </p:txBody>
      </p:sp>
      <p:sp>
        <p:nvSpPr>
          <p:cNvPr id="45" name="Text 20">
            <a:extLst>
              <a:ext uri="{FF2B5EF4-FFF2-40B4-BE49-F238E27FC236}">
                <a16:creationId xmlns:a16="http://schemas.microsoft.com/office/drawing/2014/main" id="{1F211575-0710-DFE6-6B9E-948BA9F37AE7}"/>
              </a:ext>
            </a:extLst>
          </p:cNvPr>
          <p:cNvSpPr/>
          <p:nvPr/>
        </p:nvSpPr>
        <p:spPr>
          <a:xfrm>
            <a:off x="8814432" y="4173318"/>
            <a:ext cx="2207220" cy="206920"/>
          </a:xfrm>
          <a:prstGeom prst="rect">
            <a:avLst/>
          </a:prstGeom>
          <a:noFill/>
          <a:ln/>
        </p:spPr>
        <p:txBody>
          <a:bodyPr wrap="square" rtlCol="0" anchor="ctr"/>
          <a:lstStyle/>
          <a:p>
            <a:pPr defTabSz="1219170"/>
            <a:r>
              <a:rPr lang="en-US" sz="900" b="1" dirty="0">
                <a:solidFill>
                  <a:srgbClr val="4FC3F7"/>
                </a:solidFill>
                <a:latin typeface="Calibri" pitchFamily="34" charset="0"/>
                <a:ea typeface="Calibri" pitchFamily="34" charset="-122"/>
                <a:cs typeface="Calibri" pitchFamily="34" charset="-120"/>
              </a:rPr>
              <a:t>Candles + checks</a:t>
            </a:r>
            <a:endParaRPr lang="en-US" sz="900" dirty="0">
              <a:solidFill>
                <a:prstClr val="black"/>
              </a:solidFill>
              <a:latin typeface="Calibri" panose="020F0502020204030204"/>
            </a:endParaRPr>
          </a:p>
        </p:txBody>
      </p:sp>
      <p:sp>
        <p:nvSpPr>
          <p:cNvPr id="47" name="Text 21">
            <a:extLst>
              <a:ext uri="{FF2B5EF4-FFF2-40B4-BE49-F238E27FC236}">
                <a16:creationId xmlns:a16="http://schemas.microsoft.com/office/drawing/2014/main" id="{CF0CED8E-AC60-6C13-47E3-C8E305D6B9D2}"/>
              </a:ext>
            </a:extLst>
          </p:cNvPr>
          <p:cNvSpPr/>
          <p:nvPr/>
        </p:nvSpPr>
        <p:spPr>
          <a:xfrm>
            <a:off x="8814432" y="4371793"/>
            <a:ext cx="2207220" cy="379352"/>
          </a:xfrm>
          <a:prstGeom prst="rect">
            <a:avLst/>
          </a:prstGeom>
          <a:noFill/>
          <a:ln/>
        </p:spPr>
        <p:txBody>
          <a:bodyPr wrap="square" rtlCol="0" anchor="t"/>
          <a:lstStyle/>
          <a:p>
            <a:pPr defTabSz="1219170"/>
            <a:r>
              <a:rPr lang="en-US" sz="800" dirty="0">
                <a:solidFill>
                  <a:srgbClr val="8FA8C8"/>
                </a:solidFill>
                <a:latin typeface="Calibri" pitchFamily="34" charset="0"/>
                <a:ea typeface="Calibri" pitchFamily="34" charset="-122"/>
                <a:cs typeface="Calibri" pitchFamily="34" charset="-120"/>
              </a:rPr>
              <a:t>Flink updates the price candles and feeds the trade to all three CEP detectors — each updating that coin's state.</a:t>
            </a:r>
            <a:endParaRPr lang="en-US" sz="800" dirty="0">
              <a:solidFill>
                <a:prstClr val="black"/>
              </a:solidFill>
              <a:latin typeface="Calibri" panose="020F0502020204030204"/>
            </a:endParaRPr>
          </a:p>
        </p:txBody>
      </p:sp>
      <p:sp>
        <p:nvSpPr>
          <p:cNvPr id="49" name="Shape 22">
            <a:extLst>
              <a:ext uri="{FF2B5EF4-FFF2-40B4-BE49-F238E27FC236}">
                <a16:creationId xmlns:a16="http://schemas.microsoft.com/office/drawing/2014/main" id="{E97E43E4-7818-8197-FF17-1503791C26CF}"/>
              </a:ext>
            </a:extLst>
          </p:cNvPr>
          <p:cNvSpPr/>
          <p:nvPr/>
        </p:nvSpPr>
        <p:spPr>
          <a:xfrm>
            <a:off x="8221419" y="5018064"/>
            <a:ext cx="3094320" cy="730207"/>
          </a:xfrm>
          <a:prstGeom prst="roundRect">
            <a:avLst>
              <a:gd name="adj" fmla="val 7619"/>
            </a:avLst>
          </a:prstGeom>
          <a:solidFill>
            <a:srgbClr val="1A2840"/>
          </a:solidFill>
          <a:ln w="6350">
            <a:solidFill>
              <a:srgbClr val="4FC3F7"/>
            </a:solidFill>
            <a:prstDash val="solid"/>
          </a:ln>
        </p:spPr>
        <p:txBody>
          <a:bodyPr/>
          <a:lstStyle/>
          <a:p>
            <a:pPr defTabSz="1219170"/>
            <a:endParaRPr lang="en-IN" sz="1100">
              <a:solidFill>
                <a:prstClr val="black"/>
              </a:solidFill>
              <a:latin typeface="Calibri" panose="020F0502020204030204"/>
            </a:endParaRPr>
          </a:p>
        </p:txBody>
      </p:sp>
      <p:sp>
        <p:nvSpPr>
          <p:cNvPr id="51" name="Shape 23">
            <a:extLst>
              <a:ext uri="{FF2B5EF4-FFF2-40B4-BE49-F238E27FC236}">
                <a16:creationId xmlns:a16="http://schemas.microsoft.com/office/drawing/2014/main" id="{59D234BC-3CBF-488D-0A86-F721625905F0}"/>
              </a:ext>
            </a:extLst>
          </p:cNvPr>
          <p:cNvSpPr/>
          <p:nvPr/>
        </p:nvSpPr>
        <p:spPr>
          <a:xfrm>
            <a:off x="8343337" y="5139984"/>
            <a:ext cx="374039" cy="222539"/>
          </a:xfrm>
          <a:prstGeom prst="roundRect">
            <a:avLst>
              <a:gd name="adj" fmla="val 15625"/>
            </a:avLst>
          </a:prstGeom>
          <a:solidFill>
            <a:srgbClr val="4FC3F7"/>
          </a:solidFill>
          <a:ln w="12700">
            <a:solidFill>
              <a:srgbClr val="4FC3F7"/>
            </a:solidFill>
            <a:prstDash val="solid"/>
          </a:ln>
        </p:spPr>
        <p:txBody>
          <a:bodyPr/>
          <a:lstStyle/>
          <a:p>
            <a:pPr defTabSz="1219170"/>
            <a:endParaRPr lang="en-IN" sz="1100">
              <a:solidFill>
                <a:prstClr val="black"/>
              </a:solidFill>
              <a:latin typeface="Calibri" panose="020F0502020204030204"/>
            </a:endParaRPr>
          </a:p>
        </p:txBody>
      </p:sp>
      <p:sp>
        <p:nvSpPr>
          <p:cNvPr id="53" name="Text 24">
            <a:extLst>
              <a:ext uri="{FF2B5EF4-FFF2-40B4-BE49-F238E27FC236}">
                <a16:creationId xmlns:a16="http://schemas.microsoft.com/office/drawing/2014/main" id="{0D55FC81-8255-3188-C573-3D3AE928A419}"/>
              </a:ext>
            </a:extLst>
          </p:cNvPr>
          <p:cNvSpPr/>
          <p:nvPr/>
        </p:nvSpPr>
        <p:spPr>
          <a:xfrm>
            <a:off x="8343337" y="5139983"/>
            <a:ext cx="456142" cy="227693"/>
          </a:xfrm>
          <a:prstGeom prst="rect">
            <a:avLst/>
          </a:prstGeom>
          <a:noFill/>
          <a:ln/>
        </p:spPr>
        <p:txBody>
          <a:bodyPr wrap="square" rtlCol="0" anchor="ctr"/>
          <a:lstStyle/>
          <a:p>
            <a:pPr algn="ctr" defTabSz="1219170"/>
            <a:r>
              <a:rPr lang="en-US" sz="800" b="1" dirty="0">
                <a:solidFill>
                  <a:srgbClr val="0D1320"/>
                </a:solidFill>
                <a:latin typeface="Calibri" pitchFamily="34" charset="0"/>
                <a:ea typeface="Calibri" pitchFamily="34" charset="-122"/>
                <a:cs typeface="Calibri" pitchFamily="34" charset="-120"/>
              </a:rPr>
              <a:t>7–8</a:t>
            </a:r>
            <a:endParaRPr lang="en-US" sz="800" dirty="0">
              <a:solidFill>
                <a:prstClr val="black"/>
              </a:solidFill>
              <a:latin typeface="Calibri" panose="020F0502020204030204"/>
            </a:endParaRPr>
          </a:p>
        </p:txBody>
      </p:sp>
      <p:sp>
        <p:nvSpPr>
          <p:cNvPr id="55" name="Text 25">
            <a:extLst>
              <a:ext uri="{FF2B5EF4-FFF2-40B4-BE49-F238E27FC236}">
                <a16:creationId xmlns:a16="http://schemas.microsoft.com/office/drawing/2014/main" id="{52C6E798-EBA1-A285-BDCE-872892F104C4}"/>
              </a:ext>
            </a:extLst>
          </p:cNvPr>
          <p:cNvSpPr/>
          <p:nvPr/>
        </p:nvSpPr>
        <p:spPr>
          <a:xfrm>
            <a:off x="8814432" y="5064536"/>
            <a:ext cx="2207220" cy="206920"/>
          </a:xfrm>
          <a:prstGeom prst="rect">
            <a:avLst/>
          </a:prstGeom>
          <a:noFill/>
          <a:ln/>
        </p:spPr>
        <p:txBody>
          <a:bodyPr wrap="square" rtlCol="0" anchor="ctr"/>
          <a:lstStyle/>
          <a:p>
            <a:pPr defTabSz="1219170"/>
            <a:r>
              <a:rPr lang="en-US" sz="900" b="1" dirty="0">
                <a:solidFill>
                  <a:srgbClr val="4FC3F7"/>
                </a:solidFill>
                <a:latin typeface="Calibri" pitchFamily="34" charset="0"/>
                <a:ea typeface="Calibri" pitchFamily="34" charset="-122"/>
                <a:cs typeface="Calibri" pitchFamily="34" charset="-120"/>
              </a:rPr>
              <a:t>Save results</a:t>
            </a:r>
            <a:endParaRPr lang="en-US" sz="900" dirty="0">
              <a:solidFill>
                <a:prstClr val="black"/>
              </a:solidFill>
              <a:latin typeface="Calibri" panose="020F0502020204030204"/>
            </a:endParaRPr>
          </a:p>
        </p:txBody>
      </p:sp>
      <p:sp>
        <p:nvSpPr>
          <p:cNvPr id="57" name="Text 26">
            <a:extLst>
              <a:ext uri="{FF2B5EF4-FFF2-40B4-BE49-F238E27FC236}">
                <a16:creationId xmlns:a16="http://schemas.microsoft.com/office/drawing/2014/main" id="{F0E2D5CA-3EFD-7B0F-75F3-72D341B04D7D}"/>
              </a:ext>
            </a:extLst>
          </p:cNvPr>
          <p:cNvSpPr/>
          <p:nvPr/>
        </p:nvSpPr>
        <p:spPr>
          <a:xfrm>
            <a:off x="8814432" y="5263011"/>
            <a:ext cx="2207220" cy="379352"/>
          </a:xfrm>
          <a:prstGeom prst="rect">
            <a:avLst/>
          </a:prstGeom>
          <a:noFill/>
          <a:ln/>
        </p:spPr>
        <p:txBody>
          <a:bodyPr wrap="square" rtlCol="0" anchor="t"/>
          <a:lstStyle/>
          <a:p>
            <a:pPr defTabSz="1219170"/>
            <a:r>
              <a:rPr lang="en-US" sz="800" dirty="0">
                <a:solidFill>
                  <a:srgbClr val="8FA8C8"/>
                </a:solidFill>
                <a:latin typeface="Calibri" pitchFamily="34" charset="0"/>
                <a:ea typeface="Calibri" pitchFamily="34" charset="-122"/>
                <a:cs typeface="Calibri" pitchFamily="34" charset="-120"/>
              </a:rPr>
              <a:t>Flink saves the candle and any alert into PostgreSQL. The price ticker is upserted.</a:t>
            </a:r>
            <a:endParaRPr lang="en-US" sz="800" dirty="0">
              <a:solidFill>
                <a:prstClr val="black"/>
              </a:solidFill>
              <a:latin typeface="Calibri" panose="020F0502020204030204"/>
            </a:endParaRPr>
          </a:p>
        </p:txBody>
      </p:sp>
      <p:sp>
        <p:nvSpPr>
          <p:cNvPr id="59" name="Shape 27">
            <a:extLst>
              <a:ext uri="{FF2B5EF4-FFF2-40B4-BE49-F238E27FC236}">
                <a16:creationId xmlns:a16="http://schemas.microsoft.com/office/drawing/2014/main" id="{C151DA0B-E9F4-648E-9E91-8F18CA82D28C}"/>
              </a:ext>
            </a:extLst>
          </p:cNvPr>
          <p:cNvSpPr/>
          <p:nvPr/>
        </p:nvSpPr>
        <p:spPr>
          <a:xfrm>
            <a:off x="8221419" y="5882657"/>
            <a:ext cx="3094320" cy="730207"/>
          </a:xfrm>
          <a:prstGeom prst="roundRect">
            <a:avLst>
              <a:gd name="adj" fmla="val 7619"/>
            </a:avLst>
          </a:prstGeom>
          <a:solidFill>
            <a:srgbClr val="1A2840"/>
          </a:solidFill>
          <a:ln w="6350">
            <a:solidFill>
              <a:srgbClr val="00C896"/>
            </a:solidFill>
            <a:prstDash val="solid"/>
          </a:ln>
        </p:spPr>
        <p:txBody>
          <a:bodyPr/>
          <a:lstStyle/>
          <a:p>
            <a:pPr defTabSz="1219170"/>
            <a:endParaRPr lang="en-IN" sz="1100">
              <a:solidFill>
                <a:prstClr val="black"/>
              </a:solidFill>
              <a:latin typeface="Calibri" panose="020F0502020204030204"/>
            </a:endParaRPr>
          </a:p>
        </p:txBody>
      </p:sp>
      <p:sp>
        <p:nvSpPr>
          <p:cNvPr id="61" name="Shape 28">
            <a:extLst>
              <a:ext uri="{FF2B5EF4-FFF2-40B4-BE49-F238E27FC236}">
                <a16:creationId xmlns:a16="http://schemas.microsoft.com/office/drawing/2014/main" id="{5BFD78FB-6E1C-5F69-0543-5ACBA289CFA5}"/>
              </a:ext>
            </a:extLst>
          </p:cNvPr>
          <p:cNvSpPr/>
          <p:nvPr/>
        </p:nvSpPr>
        <p:spPr>
          <a:xfrm>
            <a:off x="8343337" y="6004577"/>
            <a:ext cx="374039" cy="222539"/>
          </a:xfrm>
          <a:prstGeom prst="roundRect">
            <a:avLst>
              <a:gd name="adj" fmla="val 15625"/>
            </a:avLst>
          </a:prstGeom>
          <a:solidFill>
            <a:srgbClr val="00C896"/>
          </a:solidFill>
          <a:ln w="12700">
            <a:solidFill>
              <a:srgbClr val="00C896"/>
            </a:solidFill>
            <a:prstDash val="solid"/>
          </a:ln>
        </p:spPr>
        <p:txBody>
          <a:bodyPr/>
          <a:lstStyle/>
          <a:p>
            <a:pPr defTabSz="1219170"/>
            <a:endParaRPr lang="en-IN" sz="1100">
              <a:solidFill>
                <a:prstClr val="black"/>
              </a:solidFill>
              <a:latin typeface="Calibri" panose="020F0502020204030204"/>
            </a:endParaRPr>
          </a:p>
        </p:txBody>
      </p:sp>
      <p:sp>
        <p:nvSpPr>
          <p:cNvPr id="63" name="Text 29">
            <a:extLst>
              <a:ext uri="{FF2B5EF4-FFF2-40B4-BE49-F238E27FC236}">
                <a16:creationId xmlns:a16="http://schemas.microsoft.com/office/drawing/2014/main" id="{16972DDB-CA04-FCCD-0B3E-7243F37A81F2}"/>
              </a:ext>
            </a:extLst>
          </p:cNvPr>
          <p:cNvSpPr/>
          <p:nvPr/>
        </p:nvSpPr>
        <p:spPr>
          <a:xfrm>
            <a:off x="8343337" y="6004576"/>
            <a:ext cx="456142" cy="227693"/>
          </a:xfrm>
          <a:prstGeom prst="rect">
            <a:avLst/>
          </a:prstGeom>
          <a:noFill/>
          <a:ln/>
        </p:spPr>
        <p:txBody>
          <a:bodyPr wrap="square" rtlCol="0" anchor="ctr"/>
          <a:lstStyle/>
          <a:p>
            <a:pPr algn="ctr" defTabSz="1219170"/>
            <a:r>
              <a:rPr lang="en-US" sz="800" b="1" dirty="0">
                <a:solidFill>
                  <a:srgbClr val="0D1320"/>
                </a:solidFill>
                <a:latin typeface="Calibri" pitchFamily="34" charset="0"/>
                <a:ea typeface="Calibri" pitchFamily="34" charset="-122"/>
                <a:cs typeface="Calibri" pitchFamily="34" charset="-120"/>
              </a:rPr>
              <a:t>9–10</a:t>
            </a:r>
            <a:endParaRPr lang="en-US" sz="800" dirty="0">
              <a:solidFill>
                <a:prstClr val="black"/>
              </a:solidFill>
              <a:latin typeface="Calibri" panose="020F0502020204030204"/>
            </a:endParaRPr>
          </a:p>
        </p:txBody>
      </p:sp>
      <p:sp>
        <p:nvSpPr>
          <p:cNvPr id="65" name="Text 30">
            <a:extLst>
              <a:ext uri="{FF2B5EF4-FFF2-40B4-BE49-F238E27FC236}">
                <a16:creationId xmlns:a16="http://schemas.microsoft.com/office/drawing/2014/main" id="{AD0D7018-A63F-4F9F-6221-F221C57F0485}"/>
              </a:ext>
            </a:extLst>
          </p:cNvPr>
          <p:cNvSpPr/>
          <p:nvPr/>
        </p:nvSpPr>
        <p:spPr>
          <a:xfrm>
            <a:off x="8814432" y="5929129"/>
            <a:ext cx="2207220" cy="206920"/>
          </a:xfrm>
          <a:prstGeom prst="rect">
            <a:avLst/>
          </a:prstGeom>
          <a:noFill/>
          <a:ln/>
        </p:spPr>
        <p:txBody>
          <a:bodyPr wrap="square" rtlCol="0" anchor="ctr"/>
          <a:lstStyle/>
          <a:p>
            <a:pPr defTabSz="1219170"/>
            <a:r>
              <a:rPr lang="en-US" sz="900" b="1" dirty="0">
                <a:solidFill>
                  <a:srgbClr val="00C896"/>
                </a:solidFill>
                <a:latin typeface="Calibri" pitchFamily="34" charset="0"/>
                <a:ea typeface="Calibri" pitchFamily="34" charset="-122"/>
                <a:cs typeface="Calibri" pitchFamily="34" charset="-120"/>
              </a:rPr>
              <a:t>Dashboard updates</a:t>
            </a:r>
            <a:endParaRPr lang="en-US" sz="900" dirty="0">
              <a:solidFill>
                <a:prstClr val="black"/>
              </a:solidFill>
              <a:latin typeface="Calibri" panose="020F0502020204030204"/>
            </a:endParaRPr>
          </a:p>
        </p:txBody>
      </p:sp>
      <p:sp>
        <p:nvSpPr>
          <p:cNvPr id="67" name="Text 31">
            <a:extLst>
              <a:ext uri="{FF2B5EF4-FFF2-40B4-BE49-F238E27FC236}">
                <a16:creationId xmlns:a16="http://schemas.microsoft.com/office/drawing/2014/main" id="{C80386DA-9FBA-209D-292F-C54CA17E6C23}"/>
              </a:ext>
            </a:extLst>
          </p:cNvPr>
          <p:cNvSpPr/>
          <p:nvPr/>
        </p:nvSpPr>
        <p:spPr>
          <a:xfrm>
            <a:off x="8814432" y="6127604"/>
            <a:ext cx="2207220" cy="379352"/>
          </a:xfrm>
          <a:prstGeom prst="rect">
            <a:avLst/>
          </a:prstGeom>
          <a:noFill/>
          <a:ln/>
        </p:spPr>
        <p:txBody>
          <a:bodyPr wrap="square" rtlCol="0" anchor="t"/>
          <a:lstStyle/>
          <a:p>
            <a:pPr defTabSz="1219170"/>
            <a:r>
              <a:rPr lang="en-US" sz="800" dirty="0">
                <a:solidFill>
                  <a:srgbClr val="8FA8C8"/>
                </a:solidFill>
                <a:latin typeface="Calibri" pitchFamily="34" charset="0"/>
                <a:ea typeface="Calibri" pitchFamily="34" charset="-122"/>
                <a:cs typeface="Calibri" pitchFamily="34" charset="-120"/>
              </a:rPr>
              <a:t>Grafana asks the database for fresh data every 5 seconds and redraws all panels.</a:t>
            </a:r>
            <a:endParaRPr lang="en-US" sz="800"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5866" y="502920"/>
            <a:ext cx="10058400" cy="200055"/>
          </a:xfrm>
          <a:prstGeom prst="rect">
            <a:avLst/>
          </a:prstGeom>
          <a:noFill/>
        </p:spPr>
        <p:txBody>
          <a:bodyPr wrap="square" lIns="0" tIns="0" rIns="0" bIns="0" anchor="t">
            <a:spAutoFit/>
          </a:bodyPr>
          <a:lstStyle/>
          <a:p>
            <a:pPr algn="l">
              <a:lnSpc>
                <a:spcPct val="100000"/>
              </a:lnSpc>
              <a:spcBef>
                <a:spcPts val="0"/>
              </a:spcBef>
              <a:spcAft>
                <a:spcPts val="600"/>
              </a:spcAft>
            </a:pPr>
            <a:r>
              <a:rPr lang="en-US" sz="1300" b="1" dirty="0">
                <a:solidFill>
                  <a:srgbClr val="2EE6A6"/>
                </a:solidFill>
                <a:latin typeface="Calibri"/>
              </a:rPr>
              <a:t>Kafka</a:t>
            </a:r>
            <a:endParaRPr sz="1300" b="1" i="0" dirty="0">
              <a:solidFill>
                <a:srgbClr val="2EE6A6"/>
              </a:solidFill>
              <a:latin typeface="Calibri"/>
            </a:endParaRP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Each coin gets its own lane</a:t>
            </a:r>
          </a:p>
        </p:txBody>
      </p:sp>
      <p:sp>
        <p:nvSpPr>
          <p:cNvPr id="5" name="Rounded Rectangle 4"/>
          <p:cNvSpPr/>
          <p:nvPr/>
        </p:nvSpPr>
        <p:spPr>
          <a:xfrm>
            <a:off x="1968062" y="1764791"/>
            <a:ext cx="8225394" cy="35112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kafka_coins.png"/>
          <p:cNvPicPr>
            <a:picLocks noChangeAspect="1"/>
          </p:cNvPicPr>
          <p:nvPr/>
        </p:nvPicPr>
        <p:blipFill>
          <a:blip r:embed="rId3"/>
          <a:stretch>
            <a:fillRect/>
          </a:stretch>
        </p:blipFill>
        <p:spPr>
          <a:xfrm>
            <a:off x="2077790" y="1874519"/>
            <a:ext cx="8005938" cy="3291840"/>
          </a:xfrm>
          <a:prstGeom prst="rect">
            <a:avLst/>
          </a:prstGeom>
        </p:spPr>
      </p:pic>
      <p:sp>
        <p:nvSpPr>
          <p:cNvPr id="7" name="TextBox 6"/>
          <p:cNvSpPr txBox="1"/>
          <p:nvPr/>
        </p:nvSpPr>
        <p:spPr>
          <a:xfrm>
            <a:off x="777240" y="5486400"/>
            <a:ext cx="10607040" cy="822960"/>
          </a:xfrm>
          <a:prstGeom prst="rect">
            <a:avLst/>
          </a:prstGeom>
          <a:noFill/>
        </p:spPr>
        <p:txBody>
          <a:bodyPr wrap="square" lIns="0" tIns="0" rIns="0" bIns="0" anchor="t">
            <a:spAutoFit/>
          </a:bodyPr>
          <a:lstStyle/>
          <a:p>
            <a:pPr algn="ctr">
              <a:lnSpc>
                <a:spcPct val="100000"/>
              </a:lnSpc>
              <a:spcBef>
                <a:spcPts val="0"/>
              </a:spcBef>
              <a:spcAft>
                <a:spcPts val="600"/>
              </a:spcAft>
            </a:pPr>
            <a:r>
              <a:rPr sz="1500" b="0" i="0" dirty="0">
                <a:solidFill>
                  <a:srgbClr val="EAF0F8"/>
                </a:solidFill>
                <a:latin typeface="Calibri"/>
              </a:rPr>
              <a:t>Kafka splits the stream into 6 lanes (one per coin). Trades for the same coin stay in order, the work runs in parallel, and we can scale up later with no code change.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320"/>
        </a:solidFill>
        <a:effectLst/>
      </p:bgPr>
    </p:bg>
    <p:spTree>
      <p:nvGrpSpPr>
        <p:cNvPr id="1" name=""/>
        <p:cNvGrpSpPr/>
        <p:nvPr/>
      </p:nvGrpSpPr>
      <p:grpSpPr>
        <a:xfrm>
          <a:off x="0" y="0"/>
          <a:ext cx="0" cy="0"/>
          <a:chOff x="0" y="0"/>
          <a:chExt cx="0" cy="0"/>
        </a:xfrm>
      </p:grpSpPr>
      <p:sp>
        <p:nvSpPr>
          <p:cNvPr id="2" name="Text 0"/>
          <p:cNvSpPr/>
          <p:nvPr/>
        </p:nvSpPr>
        <p:spPr>
          <a:xfrm>
            <a:off x="774077" y="548640"/>
            <a:ext cx="2438400" cy="200055"/>
          </a:xfrm>
          <a:prstGeom prst="rect">
            <a:avLst/>
          </a:prstGeom>
          <a:noFill/>
        </p:spPr>
        <p:txBody>
          <a:bodyPr wrap="square" lIns="0" tIns="0" rIns="0" bIns="0" anchor="t">
            <a:spAutoFit/>
          </a:bodyPr>
          <a:lstStyle/>
          <a:p>
            <a:pPr>
              <a:spcAft>
                <a:spcPts val="600"/>
              </a:spcAft>
            </a:pPr>
            <a:r>
              <a:rPr lang="en-US" sz="1300" b="1" dirty="0">
                <a:solidFill>
                  <a:srgbClr val="2EE6A6"/>
                </a:solidFill>
                <a:latin typeface="Calibri"/>
              </a:rPr>
              <a:t>INSIDE FLINK</a:t>
            </a:r>
          </a:p>
        </p:txBody>
      </p:sp>
      <p:sp>
        <p:nvSpPr>
          <p:cNvPr id="3" name="Text 1"/>
          <p:cNvSpPr/>
          <p:nvPr/>
        </p:nvSpPr>
        <p:spPr>
          <a:xfrm>
            <a:off x="670560" y="548640"/>
            <a:ext cx="10850880" cy="914400"/>
          </a:xfrm>
          <a:prstGeom prst="rect">
            <a:avLst/>
          </a:prstGeom>
          <a:noFill/>
          <a:ln/>
        </p:spPr>
        <p:txBody>
          <a:bodyPr wrap="square" rtlCol="0" anchor="ctr"/>
          <a:lstStyle/>
          <a:p>
            <a:pPr defTabSz="1219170"/>
            <a:r>
              <a:rPr lang="en-US" sz="3000" b="1" dirty="0">
                <a:solidFill>
                  <a:srgbClr val="FFFFFF"/>
                </a:solidFill>
                <a:latin typeface="Georgia" pitchFamily="34" charset="0"/>
                <a:ea typeface="Georgia" pitchFamily="34" charset="-122"/>
                <a:cs typeface="Georgia" pitchFamily="34" charset="-120"/>
              </a:rPr>
              <a:t>How the pipeline splits into streams and operators</a:t>
            </a:r>
            <a:endParaRPr lang="en-US" sz="3000" dirty="0">
              <a:solidFill>
                <a:prstClr val="black"/>
              </a:solidFill>
              <a:latin typeface="Calibri" panose="020F0502020204030204"/>
            </a:endParaRPr>
          </a:p>
        </p:txBody>
      </p:sp>
      <p:sp>
        <p:nvSpPr>
          <p:cNvPr id="4" name="Text 2"/>
          <p:cNvSpPr/>
          <p:nvPr/>
        </p:nvSpPr>
        <p:spPr>
          <a:xfrm>
            <a:off x="670560" y="1280160"/>
            <a:ext cx="10972800" cy="365760"/>
          </a:xfrm>
          <a:prstGeom prst="rect">
            <a:avLst/>
          </a:prstGeom>
          <a:noFill/>
          <a:ln/>
        </p:spPr>
        <p:txBody>
          <a:bodyPr wrap="square" rtlCol="0" anchor="t"/>
          <a:lstStyle/>
          <a:p>
            <a:pPr defTabSz="1219170"/>
            <a:r>
              <a:rPr lang="en-US" sz="1600" dirty="0">
                <a:solidFill>
                  <a:srgbClr val="8FA8C8"/>
                </a:solidFill>
                <a:latin typeface="Calibri" pitchFamily="34" charset="0"/>
                <a:ea typeface="Calibri" pitchFamily="34" charset="-122"/>
                <a:cs typeface="Calibri" pitchFamily="34" charset="-120"/>
              </a:rPr>
              <a:t>4 streams · 9 operators in code · 30 isolated operator instances at runtime (5 operators × 6 symbols)</a:t>
            </a:r>
            <a:endParaRPr lang="en-US" sz="1600" dirty="0">
              <a:solidFill>
                <a:prstClr val="black"/>
              </a:solidFill>
              <a:latin typeface="Calibri" panose="020F0502020204030204"/>
            </a:endParaRPr>
          </a:p>
        </p:txBody>
      </p:sp>
      <p:pic>
        <p:nvPicPr>
          <p:cNvPr id="7" name="Picture 6">
            <a:extLst>
              <a:ext uri="{FF2B5EF4-FFF2-40B4-BE49-F238E27FC236}">
                <a16:creationId xmlns:a16="http://schemas.microsoft.com/office/drawing/2014/main" id="{70AF31FB-F1ED-11EC-C6BB-FBF74560EEEB}"/>
              </a:ext>
            </a:extLst>
          </p:cNvPr>
          <p:cNvPicPr>
            <a:picLocks noChangeAspect="1"/>
          </p:cNvPicPr>
          <p:nvPr/>
        </p:nvPicPr>
        <p:blipFill>
          <a:blip r:embed="rId3"/>
          <a:srcRect t="6444" b="8777"/>
          <a:stretch>
            <a:fillRect/>
          </a:stretch>
        </p:blipFill>
        <p:spPr>
          <a:xfrm>
            <a:off x="1461557" y="1867237"/>
            <a:ext cx="4040084" cy="4663441"/>
          </a:xfrm>
          <a:prstGeom prst="rect">
            <a:avLst/>
          </a:prstGeom>
        </p:spPr>
      </p:pic>
      <p:sp>
        <p:nvSpPr>
          <p:cNvPr id="13" name="Shape 22">
            <a:extLst>
              <a:ext uri="{FF2B5EF4-FFF2-40B4-BE49-F238E27FC236}">
                <a16:creationId xmlns:a16="http://schemas.microsoft.com/office/drawing/2014/main" id="{A864202B-3495-573F-5CFE-3F3758A89F2A}"/>
              </a:ext>
            </a:extLst>
          </p:cNvPr>
          <p:cNvSpPr/>
          <p:nvPr/>
        </p:nvSpPr>
        <p:spPr>
          <a:xfrm>
            <a:off x="6721182" y="4198958"/>
            <a:ext cx="4328160" cy="1695450"/>
          </a:xfrm>
          <a:prstGeom prst="roundRect">
            <a:avLst>
              <a:gd name="adj" fmla="val 7619"/>
            </a:avLst>
          </a:prstGeom>
          <a:solidFill>
            <a:srgbClr val="1A2840"/>
          </a:solidFill>
          <a:ln w="6350">
            <a:solidFill>
              <a:srgbClr val="FFB300"/>
            </a:solidFill>
            <a:prstDash val="solid"/>
          </a:ln>
        </p:spPr>
        <p:txBody>
          <a:bodyPr/>
          <a:lstStyle/>
          <a:p>
            <a:pPr defTabSz="1219170"/>
            <a:endParaRPr lang="en-IN" sz="2400">
              <a:solidFill>
                <a:prstClr val="black"/>
              </a:solidFill>
              <a:latin typeface="Calibri" panose="020F0502020204030204"/>
            </a:endParaRPr>
          </a:p>
        </p:txBody>
      </p:sp>
      <p:sp>
        <p:nvSpPr>
          <p:cNvPr id="15" name="Text 23">
            <a:extLst>
              <a:ext uri="{FF2B5EF4-FFF2-40B4-BE49-F238E27FC236}">
                <a16:creationId xmlns:a16="http://schemas.microsoft.com/office/drawing/2014/main" id="{E2F9D55A-7522-4BA8-2402-B8820DF6EE74}"/>
              </a:ext>
            </a:extLst>
          </p:cNvPr>
          <p:cNvSpPr/>
          <p:nvPr/>
        </p:nvSpPr>
        <p:spPr>
          <a:xfrm>
            <a:off x="6690360" y="3985598"/>
            <a:ext cx="4358982" cy="1028264"/>
          </a:xfrm>
          <a:prstGeom prst="rect">
            <a:avLst/>
          </a:prstGeom>
          <a:noFill/>
          <a:ln/>
        </p:spPr>
        <p:txBody>
          <a:bodyPr wrap="square" rtlCol="0" anchor="ctr"/>
          <a:lstStyle/>
          <a:p>
            <a:pPr defTabSz="1219170"/>
            <a:r>
              <a:rPr lang="en-US" sz="1467" b="1" dirty="0">
                <a:solidFill>
                  <a:srgbClr val="FFB300"/>
                </a:solidFill>
                <a:latin typeface="Calibri" pitchFamily="34" charset="0"/>
                <a:ea typeface="Calibri" pitchFamily="34" charset="-122"/>
                <a:cs typeface="Calibri" pitchFamily="34" charset="-120"/>
              </a:rPr>
              <a:t>Why this matters for correctness:</a:t>
            </a:r>
            <a:endParaRPr lang="en-US" sz="1467" dirty="0">
              <a:solidFill>
                <a:prstClr val="black"/>
              </a:solidFill>
              <a:latin typeface="Calibri" panose="020F0502020204030204"/>
            </a:endParaRPr>
          </a:p>
        </p:txBody>
      </p:sp>
      <p:sp>
        <p:nvSpPr>
          <p:cNvPr id="17" name="Text 24">
            <a:extLst>
              <a:ext uri="{FF2B5EF4-FFF2-40B4-BE49-F238E27FC236}">
                <a16:creationId xmlns:a16="http://schemas.microsoft.com/office/drawing/2014/main" id="{105310E4-D60E-7DFF-95F9-9608A0450165}"/>
              </a:ext>
            </a:extLst>
          </p:cNvPr>
          <p:cNvSpPr/>
          <p:nvPr/>
        </p:nvSpPr>
        <p:spPr>
          <a:xfrm>
            <a:off x="6781800" y="4709498"/>
            <a:ext cx="4358982" cy="1184910"/>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Without isolation, BTC's $64,000 price and DOGE's $0.086 price would be in the same list. The swing calculation would show 74,000% — every trade would fire a WASH_TRADE alert. With key_by, each coin only sees its own history.</a:t>
            </a:r>
            <a:endParaRPr lang="en-US" sz="1333" dirty="0">
              <a:solidFill>
                <a:prstClr val="black"/>
              </a:solidFill>
              <a:latin typeface="Calibri" panose="020F0502020204030204"/>
            </a:endParaRPr>
          </a:p>
        </p:txBody>
      </p:sp>
      <p:sp>
        <p:nvSpPr>
          <p:cNvPr id="19" name="Shape 22">
            <a:extLst>
              <a:ext uri="{FF2B5EF4-FFF2-40B4-BE49-F238E27FC236}">
                <a16:creationId xmlns:a16="http://schemas.microsoft.com/office/drawing/2014/main" id="{A118BC33-C22C-5B12-DE5F-BCF896881CCE}"/>
              </a:ext>
            </a:extLst>
          </p:cNvPr>
          <p:cNvSpPr/>
          <p:nvPr/>
        </p:nvSpPr>
        <p:spPr>
          <a:xfrm>
            <a:off x="6690360" y="2173508"/>
            <a:ext cx="4328160" cy="1695450"/>
          </a:xfrm>
          <a:prstGeom prst="roundRect">
            <a:avLst>
              <a:gd name="adj" fmla="val 7619"/>
            </a:avLst>
          </a:prstGeom>
          <a:solidFill>
            <a:srgbClr val="1A2840"/>
          </a:solidFill>
          <a:ln w="6350">
            <a:solidFill>
              <a:srgbClr val="FFB300"/>
            </a:solidFill>
            <a:prstDash val="solid"/>
          </a:ln>
        </p:spPr>
        <p:txBody>
          <a:bodyPr/>
          <a:lstStyle/>
          <a:p>
            <a:pPr defTabSz="1219170"/>
            <a:endParaRPr lang="en-IN" sz="2400">
              <a:solidFill>
                <a:prstClr val="black"/>
              </a:solidFill>
              <a:latin typeface="Calibri" panose="020F0502020204030204"/>
            </a:endParaRPr>
          </a:p>
        </p:txBody>
      </p:sp>
      <p:sp>
        <p:nvSpPr>
          <p:cNvPr id="11" name="Text 21">
            <a:extLst>
              <a:ext uri="{FF2B5EF4-FFF2-40B4-BE49-F238E27FC236}">
                <a16:creationId xmlns:a16="http://schemas.microsoft.com/office/drawing/2014/main" id="{988788C3-ECE7-4FD9-BA8A-DC1D6D284E68}"/>
              </a:ext>
            </a:extLst>
          </p:cNvPr>
          <p:cNvSpPr/>
          <p:nvPr/>
        </p:nvSpPr>
        <p:spPr>
          <a:xfrm>
            <a:off x="6816432" y="2444827"/>
            <a:ext cx="4137660" cy="1066052"/>
          </a:xfrm>
          <a:prstGeom prst="rect">
            <a:avLst/>
          </a:prstGeom>
          <a:noFill/>
          <a:ln/>
        </p:spPr>
        <p:txBody>
          <a:bodyPr wrap="square" rtlCol="0" anchor="t"/>
          <a:lstStyle/>
          <a:p>
            <a:pPr defTabSz="1219170"/>
            <a:r>
              <a:rPr lang="en-US" sz="1467" dirty="0">
                <a:solidFill>
                  <a:srgbClr val="8FA8C8"/>
                </a:solidFill>
                <a:latin typeface="Calibri" pitchFamily="34" charset="0"/>
                <a:ea typeface="Calibri" pitchFamily="34" charset="-122"/>
                <a:cs typeface="Calibri" pitchFamily="34" charset="-120"/>
              </a:rPr>
              <a:t>After </a:t>
            </a:r>
            <a:r>
              <a:rPr lang="en-US" sz="1467" dirty="0" err="1">
                <a:solidFill>
                  <a:srgbClr val="8FA8C8"/>
                </a:solidFill>
                <a:latin typeface="Calibri" pitchFamily="34" charset="0"/>
                <a:ea typeface="Calibri" pitchFamily="34" charset="-122"/>
                <a:cs typeface="Calibri" pitchFamily="34" charset="-120"/>
              </a:rPr>
              <a:t>key_by</a:t>
            </a:r>
            <a:r>
              <a:rPr lang="en-US" sz="1467" dirty="0">
                <a:solidFill>
                  <a:srgbClr val="8FA8C8"/>
                </a:solidFill>
                <a:latin typeface="Calibri" pitchFamily="34" charset="0"/>
                <a:ea typeface="Calibri" pitchFamily="34" charset="-122"/>
                <a:cs typeface="Calibri" pitchFamily="34" charset="-120"/>
              </a:rPr>
              <a:t>(symbol), each coin gets its own isolated state in every Flink operator. BTCUSDT's price history never mixes with DOGEUSDT's price history — guaranteed by Flink.</a:t>
            </a:r>
            <a:endParaRPr lang="en-US" sz="1467" dirty="0">
              <a:solidFill>
                <a:prstClr val="black"/>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320"/>
        </a:solidFill>
        <a:effectLst/>
      </p:bgPr>
    </p:bg>
    <p:spTree>
      <p:nvGrpSpPr>
        <p:cNvPr id="1" name=""/>
        <p:cNvGrpSpPr/>
        <p:nvPr/>
      </p:nvGrpSpPr>
      <p:grpSpPr>
        <a:xfrm>
          <a:off x="0" y="0"/>
          <a:ext cx="0" cy="0"/>
          <a:chOff x="0" y="0"/>
          <a:chExt cx="0" cy="0"/>
        </a:xfrm>
      </p:grpSpPr>
      <p:sp>
        <p:nvSpPr>
          <p:cNvPr id="2" name="Text 0"/>
          <p:cNvSpPr/>
          <p:nvPr/>
        </p:nvSpPr>
        <p:spPr>
          <a:xfrm>
            <a:off x="670560" y="341376"/>
            <a:ext cx="2438400" cy="341376"/>
          </a:xfrm>
          <a:prstGeom prst="rect">
            <a:avLst/>
          </a:prstGeom>
          <a:noFill/>
          <a:ln/>
        </p:spPr>
        <p:txBody>
          <a:bodyPr wrap="square" rtlCol="0" anchor="ctr"/>
          <a:lstStyle/>
          <a:p>
            <a:pPr defTabSz="1219170"/>
            <a:r>
              <a:rPr lang="en-US" sz="1200" b="1" kern="0" spc="400" dirty="0">
                <a:solidFill>
                  <a:srgbClr val="00C896"/>
                </a:solidFill>
                <a:latin typeface="Calibri" pitchFamily="34" charset="0"/>
                <a:ea typeface="Calibri" pitchFamily="34" charset="-122"/>
                <a:cs typeface="Calibri" pitchFamily="34" charset="-120"/>
              </a:rPr>
              <a:t>THE CORE</a:t>
            </a:r>
            <a:endParaRPr lang="en-US" sz="1200" dirty="0">
              <a:solidFill>
                <a:prstClr val="black"/>
              </a:solidFill>
              <a:latin typeface="Calibri" panose="020F0502020204030204"/>
            </a:endParaRPr>
          </a:p>
        </p:txBody>
      </p:sp>
      <p:sp>
        <p:nvSpPr>
          <p:cNvPr id="3" name="Text 1"/>
          <p:cNvSpPr/>
          <p:nvPr/>
        </p:nvSpPr>
        <p:spPr>
          <a:xfrm>
            <a:off x="670560" y="670560"/>
            <a:ext cx="10850880" cy="914400"/>
          </a:xfrm>
          <a:prstGeom prst="rect">
            <a:avLst/>
          </a:prstGeom>
          <a:noFill/>
          <a:ln/>
        </p:spPr>
        <p:txBody>
          <a:bodyPr wrap="square" rtlCol="0" anchor="ctr"/>
          <a:lstStyle/>
          <a:p>
            <a:pPr defTabSz="1219170"/>
            <a:r>
              <a:rPr lang="en-US" sz="4267" b="1" dirty="0">
                <a:solidFill>
                  <a:srgbClr val="FFFFFF"/>
                </a:solidFill>
                <a:latin typeface="Georgia" pitchFamily="34" charset="0"/>
                <a:ea typeface="Georgia" pitchFamily="34" charset="-122"/>
                <a:cs typeface="Georgia" pitchFamily="34" charset="-120"/>
              </a:rPr>
              <a:t>The three cheating patterns we detect</a:t>
            </a:r>
            <a:endParaRPr lang="en-US" sz="4267" dirty="0">
              <a:solidFill>
                <a:prstClr val="black"/>
              </a:solidFill>
              <a:latin typeface="Calibri" panose="020F0502020204030204"/>
            </a:endParaRPr>
          </a:p>
        </p:txBody>
      </p:sp>
      <p:sp>
        <p:nvSpPr>
          <p:cNvPr id="4" name="Shape 2"/>
          <p:cNvSpPr/>
          <p:nvPr/>
        </p:nvSpPr>
        <p:spPr>
          <a:xfrm>
            <a:off x="365760" y="1767840"/>
            <a:ext cx="3718560" cy="4657344"/>
          </a:xfrm>
          <a:prstGeom prst="roundRect">
            <a:avLst>
              <a:gd name="adj" fmla="val 2623"/>
            </a:avLst>
          </a:prstGeom>
          <a:solidFill>
            <a:srgbClr val="1A2840"/>
          </a:solidFill>
          <a:ln w="6350">
            <a:solidFill>
              <a:srgbClr val="FFB300"/>
            </a:solidFill>
            <a:prstDash val="solid"/>
          </a:ln>
        </p:spPr>
        <p:txBody>
          <a:bodyPr/>
          <a:lstStyle/>
          <a:p>
            <a:pPr defTabSz="1219170"/>
            <a:endParaRPr lang="en-IN" sz="2400">
              <a:solidFill>
                <a:prstClr val="black"/>
              </a:solidFill>
              <a:latin typeface="Calibri" panose="020F0502020204030204"/>
            </a:endParaRPr>
          </a:p>
        </p:txBody>
      </p:sp>
      <p:sp>
        <p:nvSpPr>
          <p:cNvPr id="5" name="Text 3"/>
          <p:cNvSpPr/>
          <p:nvPr/>
        </p:nvSpPr>
        <p:spPr>
          <a:xfrm>
            <a:off x="548640" y="1926336"/>
            <a:ext cx="3352800" cy="548640"/>
          </a:xfrm>
          <a:prstGeom prst="rect">
            <a:avLst/>
          </a:prstGeom>
          <a:noFill/>
          <a:ln/>
        </p:spPr>
        <p:txBody>
          <a:bodyPr wrap="square" rtlCol="0" anchor="ctr"/>
          <a:lstStyle/>
          <a:p>
            <a:pPr defTabSz="1219170"/>
            <a:r>
              <a:rPr lang="en-US" sz="1867" b="1" dirty="0">
                <a:solidFill>
                  <a:srgbClr val="FFB300"/>
                </a:solidFill>
                <a:latin typeface="Calibri" pitchFamily="34" charset="0"/>
                <a:ea typeface="Calibri" pitchFamily="34" charset="-122"/>
                <a:cs typeface="Calibri" pitchFamily="34" charset="-120"/>
              </a:rPr>
              <a:t>〰  Wash trade</a:t>
            </a:r>
            <a:endParaRPr lang="en-US" sz="1867" dirty="0">
              <a:solidFill>
                <a:prstClr val="black"/>
              </a:solidFill>
              <a:latin typeface="Calibri" panose="020F0502020204030204"/>
            </a:endParaRPr>
          </a:p>
        </p:txBody>
      </p:sp>
      <p:sp>
        <p:nvSpPr>
          <p:cNvPr id="6" name="Text 4"/>
          <p:cNvSpPr/>
          <p:nvPr/>
        </p:nvSpPr>
        <p:spPr>
          <a:xfrm>
            <a:off x="548640" y="2560320"/>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What it is:</a:t>
            </a:r>
            <a:endParaRPr lang="en-US" sz="1333" dirty="0">
              <a:solidFill>
                <a:prstClr val="black"/>
              </a:solidFill>
              <a:latin typeface="Calibri" panose="020F0502020204030204"/>
            </a:endParaRPr>
          </a:p>
        </p:txBody>
      </p:sp>
      <p:sp>
        <p:nvSpPr>
          <p:cNvPr id="7" name="Text 5"/>
          <p:cNvSpPr/>
          <p:nvPr/>
        </p:nvSpPr>
        <p:spPr>
          <a:xfrm>
            <a:off x="548640" y="2865120"/>
            <a:ext cx="3352800" cy="914400"/>
          </a:xfrm>
          <a:prstGeom prst="rect">
            <a:avLst/>
          </a:prstGeom>
          <a:noFill/>
          <a:ln/>
        </p:spPr>
        <p:txBody>
          <a:bodyPr wrap="square" rtlCol="0" anchor="t"/>
          <a:lstStyle/>
          <a:p>
            <a:pPr defTabSz="1219170"/>
            <a:r>
              <a:rPr lang="en-US" sz="1333" dirty="0">
                <a:solidFill>
                  <a:srgbClr val="FFFFFF"/>
                </a:solidFill>
                <a:latin typeface="Calibri" pitchFamily="34" charset="0"/>
                <a:ea typeface="Calibri" pitchFamily="34" charset="-122"/>
                <a:cs typeface="Calibri" pitchFamily="34" charset="-120"/>
              </a:rPr>
              <a:t>A person quietly buys and sells to themselves to make a coin look busier than it really is.</a:t>
            </a:r>
            <a:endParaRPr lang="en-US" sz="1333" dirty="0">
              <a:solidFill>
                <a:prstClr val="black"/>
              </a:solidFill>
              <a:latin typeface="Calibri" panose="020F0502020204030204"/>
            </a:endParaRPr>
          </a:p>
        </p:txBody>
      </p:sp>
      <p:sp>
        <p:nvSpPr>
          <p:cNvPr id="8" name="Text 6"/>
          <p:cNvSpPr/>
          <p:nvPr/>
        </p:nvSpPr>
        <p:spPr>
          <a:xfrm>
            <a:off x="548640" y="3840480"/>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Detection:</a:t>
            </a:r>
            <a:endParaRPr lang="en-US" sz="1333" dirty="0">
              <a:solidFill>
                <a:prstClr val="black"/>
              </a:solidFill>
              <a:latin typeface="Calibri" panose="020F0502020204030204"/>
            </a:endParaRPr>
          </a:p>
        </p:txBody>
      </p:sp>
      <p:sp>
        <p:nvSpPr>
          <p:cNvPr id="9" name="Text 7"/>
          <p:cNvSpPr/>
          <p:nvPr/>
        </p:nvSpPr>
        <p:spPr>
          <a:xfrm>
            <a:off x="548640" y="4120896"/>
            <a:ext cx="3352800" cy="755904"/>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Price swings ±0.3% AND volume is 1.5× the rolling average across last 60 trades.</a:t>
            </a:r>
            <a:endParaRPr lang="en-US" sz="1333" dirty="0">
              <a:solidFill>
                <a:prstClr val="black"/>
              </a:solidFill>
              <a:latin typeface="Calibri" panose="020F0502020204030204"/>
            </a:endParaRPr>
          </a:p>
        </p:txBody>
      </p:sp>
      <p:sp>
        <p:nvSpPr>
          <p:cNvPr id="10" name="Text 8"/>
          <p:cNvSpPr/>
          <p:nvPr/>
        </p:nvSpPr>
        <p:spPr>
          <a:xfrm>
            <a:off x="548640" y="4901184"/>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Flink state:</a:t>
            </a:r>
            <a:endParaRPr lang="en-US" sz="1333" dirty="0">
              <a:solidFill>
                <a:prstClr val="black"/>
              </a:solidFill>
              <a:latin typeface="Calibri" panose="020F0502020204030204"/>
            </a:endParaRPr>
          </a:p>
        </p:txBody>
      </p:sp>
      <p:sp>
        <p:nvSpPr>
          <p:cNvPr id="11" name="Text 9"/>
          <p:cNvSpPr/>
          <p:nvPr/>
        </p:nvSpPr>
        <p:spPr>
          <a:xfrm>
            <a:off x="548640" y="5181600"/>
            <a:ext cx="3352800" cy="877824"/>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ListState — rolling price and volume history, capped at 60 entries per coin.</a:t>
            </a:r>
            <a:endParaRPr lang="en-US" sz="1333" dirty="0">
              <a:solidFill>
                <a:prstClr val="black"/>
              </a:solidFill>
              <a:latin typeface="Calibri" panose="020F0502020204030204"/>
            </a:endParaRPr>
          </a:p>
        </p:txBody>
      </p:sp>
      <p:sp>
        <p:nvSpPr>
          <p:cNvPr id="12" name="Shape 10"/>
          <p:cNvSpPr/>
          <p:nvPr/>
        </p:nvSpPr>
        <p:spPr>
          <a:xfrm>
            <a:off x="4267200" y="1767840"/>
            <a:ext cx="3718560" cy="4657344"/>
          </a:xfrm>
          <a:prstGeom prst="roundRect">
            <a:avLst>
              <a:gd name="adj" fmla="val 2623"/>
            </a:avLst>
          </a:prstGeom>
          <a:solidFill>
            <a:srgbClr val="1A2840"/>
          </a:solidFill>
          <a:ln w="6350">
            <a:solidFill>
              <a:srgbClr val="FF5252"/>
            </a:solidFill>
            <a:prstDash val="solid"/>
          </a:ln>
        </p:spPr>
        <p:txBody>
          <a:bodyPr/>
          <a:lstStyle/>
          <a:p>
            <a:pPr defTabSz="1219170"/>
            <a:endParaRPr lang="en-IN" sz="2400">
              <a:solidFill>
                <a:prstClr val="black"/>
              </a:solidFill>
              <a:latin typeface="Calibri" panose="020F0502020204030204"/>
            </a:endParaRPr>
          </a:p>
        </p:txBody>
      </p:sp>
      <p:sp>
        <p:nvSpPr>
          <p:cNvPr id="13" name="Text 11"/>
          <p:cNvSpPr/>
          <p:nvPr/>
        </p:nvSpPr>
        <p:spPr>
          <a:xfrm>
            <a:off x="4450080" y="1926336"/>
            <a:ext cx="3352800" cy="548640"/>
          </a:xfrm>
          <a:prstGeom prst="rect">
            <a:avLst/>
          </a:prstGeom>
          <a:noFill/>
          <a:ln/>
        </p:spPr>
        <p:txBody>
          <a:bodyPr wrap="square" rtlCol="0" anchor="ctr"/>
          <a:lstStyle/>
          <a:p>
            <a:pPr defTabSz="1219170"/>
            <a:r>
              <a:rPr lang="en-US" sz="1867" b="1" dirty="0">
                <a:solidFill>
                  <a:srgbClr val="FF5252"/>
                </a:solidFill>
                <a:latin typeface="Calibri" pitchFamily="34" charset="0"/>
                <a:ea typeface="Calibri" pitchFamily="34" charset="-122"/>
                <a:cs typeface="Calibri" pitchFamily="34" charset="-120"/>
              </a:rPr>
              <a:t>📈  Pump &amp; dump</a:t>
            </a:r>
            <a:endParaRPr lang="en-US" sz="1867" dirty="0">
              <a:solidFill>
                <a:prstClr val="black"/>
              </a:solidFill>
              <a:latin typeface="Calibri" panose="020F0502020204030204"/>
            </a:endParaRPr>
          </a:p>
        </p:txBody>
      </p:sp>
      <p:sp>
        <p:nvSpPr>
          <p:cNvPr id="14" name="Text 12"/>
          <p:cNvSpPr/>
          <p:nvPr/>
        </p:nvSpPr>
        <p:spPr>
          <a:xfrm>
            <a:off x="4450080" y="2560320"/>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What it is:</a:t>
            </a:r>
            <a:endParaRPr lang="en-US" sz="1333" dirty="0">
              <a:solidFill>
                <a:prstClr val="black"/>
              </a:solidFill>
              <a:latin typeface="Calibri" panose="020F0502020204030204"/>
            </a:endParaRPr>
          </a:p>
        </p:txBody>
      </p:sp>
      <p:sp>
        <p:nvSpPr>
          <p:cNvPr id="15" name="Text 13"/>
          <p:cNvSpPr/>
          <p:nvPr/>
        </p:nvSpPr>
        <p:spPr>
          <a:xfrm>
            <a:off x="4450080" y="2865120"/>
            <a:ext cx="3352800" cy="914400"/>
          </a:xfrm>
          <a:prstGeom prst="rect">
            <a:avLst/>
          </a:prstGeom>
          <a:noFill/>
          <a:ln/>
        </p:spPr>
        <p:txBody>
          <a:bodyPr wrap="square" rtlCol="0" anchor="t"/>
          <a:lstStyle/>
          <a:p>
            <a:pPr defTabSz="1219170"/>
            <a:r>
              <a:rPr lang="en-US" sz="1333" dirty="0">
                <a:solidFill>
                  <a:srgbClr val="FFFFFF"/>
                </a:solidFill>
                <a:latin typeface="Calibri" pitchFamily="34" charset="0"/>
                <a:ea typeface="Calibri" pitchFamily="34" charset="-122"/>
                <a:cs typeface="Calibri" pitchFamily="34" charset="-120"/>
              </a:rPr>
              <a:t>A group pushes a price up fast, then sells everything at the top, leaving buyers with losses.</a:t>
            </a:r>
            <a:endParaRPr lang="en-US" sz="1333" dirty="0">
              <a:solidFill>
                <a:prstClr val="black"/>
              </a:solidFill>
              <a:latin typeface="Calibri" panose="020F0502020204030204"/>
            </a:endParaRPr>
          </a:p>
        </p:txBody>
      </p:sp>
      <p:sp>
        <p:nvSpPr>
          <p:cNvPr id="16" name="Text 14"/>
          <p:cNvSpPr/>
          <p:nvPr/>
        </p:nvSpPr>
        <p:spPr>
          <a:xfrm>
            <a:off x="4450080" y="3840480"/>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Detection:</a:t>
            </a:r>
            <a:endParaRPr lang="en-US" sz="1333" dirty="0">
              <a:solidFill>
                <a:prstClr val="black"/>
              </a:solidFill>
              <a:latin typeface="Calibri" panose="020F0502020204030204"/>
            </a:endParaRPr>
          </a:p>
        </p:txBody>
      </p:sp>
      <p:sp>
        <p:nvSpPr>
          <p:cNvPr id="17" name="Text 15"/>
          <p:cNvSpPr/>
          <p:nvPr/>
        </p:nvSpPr>
        <p:spPr>
          <a:xfrm>
            <a:off x="4450080" y="4120896"/>
            <a:ext cx="3352800" cy="755904"/>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Price rises 0.4%, then drops 0.3% from the peak within 4 minutes.</a:t>
            </a:r>
            <a:endParaRPr lang="en-US" sz="1333" dirty="0">
              <a:solidFill>
                <a:prstClr val="black"/>
              </a:solidFill>
              <a:latin typeface="Calibri" panose="020F0502020204030204"/>
            </a:endParaRPr>
          </a:p>
        </p:txBody>
      </p:sp>
      <p:sp>
        <p:nvSpPr>
          <p:cNvPr id="18" name="Text 16"/>
          <p:cNvSpPr/>
          <p:nvPr/>
        </p:nvSpPr>
        <p:spPr>
          <a:xfrm>
            <a:off x="4450080" y="4901184"/>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Flink state:</a:t>
            </a:r>
            <a:endParaRPr lang="en-US" sz="1333" dirty="0">
              <a:solidFill>
                <a:prstClr val="black"/>
              </a:solidFill>
              <a:latin typeface="Calibri" panose="020F0502020204030204"/>
            </a:endParaRPr>
          </a:p>
        </p:txBody>
      </p:sp>
      <p:sp>
        <p:nvSpPr>
          <p:cNvPr id="19" name="Text 17"/>
          <p:cNvSpPr/>
          <p:nvPr/>
        </p:nvSpPr>
        <p:spPr>
          <a:xfrm>
            <a:off x="4450080" y="5181600"/>
            <a:ext cx="3352800" cy="877824"/>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ValueState — 3-phase state machine: WATCHING → PUMP_CONFIRMED → ALERT.</a:t>
            </a:r>
            <a:endParaRPr lang="en-US" sz="1333" dirty="0">
              <a:solidFill>
                <a:prstClr val="black"/>
              </a:solidFill>
              <a:latin typeface="Calibri" panose="020F0502020204030204"/>
            </a:endParaRPr>
          </a:p>
        </p:txBody>
      </p:sp>
      <p:sp>
        <p:nvSpPr>
          <p:cNvPr id="20" name="Shape 18"/>
          <p:cNvSpPr/>
          <p:nvPr/>
        </p:nvSpPr>
        <p:spPr>
          <a:xfrm>
            <a:off x="8168640" y="1767840"/>
            <a:ext cx="3718560" cy="4657344"/>
          </a:xfrm>
          <a:prstGeom prst="roundRect">
            <a:avLst>
              <a:gd name="adj" fmla="val 2623"/>
            </a:avLst>
          </a:prstGeom>
          <a:solidFill>
            <a:srgbClr val="1A2840"/>
          </a:solidFill>
          <a:ln w="6350">
            <a:solidFill>
              <a:srgbClr val="4FC3F7"/>
            </a:solidFill>
            <a:prstDash val="solid"/>
          </a:ln>
        </p:spPr>
        <p:txBody>
          <a:bodyPr/>
          <a:lstStyle/>
          <a:p>
            <a:pPr defTabSz="1219170"/>
            <a:endParaRPr lang="en-IN" sz="2400">
              <a:solidFill>
                <a:prstClr val="black"/>
              </a:solidFill>
              <a:latin typeface="Calibri" panose="020F0502020204030204"/>
            </a:endParaRPr>
          </a:p>
        </p:txBody>
      </p:sp>
      <p:sp>
        <p:nvSpPr>
          <p:cNvPr id="21" name="Text 19"/>
          <p:cNvSpPr/>
          <p:nvPr/>
        </p:nvSpPr>
        <p:spPr>
          <a:xfrm>
            <a:off x="8351520" y="1926336"/>
            <a:ext cx="3352800" cy="548640"/>
          </a:xfrm>
          <a:prstGeom prst="rect">
            <a:avLst/>
          </a:prstGeom>
          <a:noFill/>
          <a:ln/>
        </p:spPr>
        <p:txBody>
          <a:bodyPr wrap="square" rtlCol="0" anchor="ctr"/>
          <a:lstStyle/>
          <a:p>
            <a:pPr defTabSz="1219170"/>
            <a:r>
              <a:rPr lang="en-US" sz="1867" b="1" dirty="0">
                <a:solidFill>
                  <a:srgbClr val="4FC3F7"/>
                </a:solidFill>
                <a:latin typeface="Calibri" pitchFamily="34" charset="0"/>
                <a:ea typeface="Calibri" pitchFamily="34" charset="-122"/>
                <a:cs typeface="Calibri" pitchFamily="34" charset="-120"/>
              </a:rPr>
              <a:t>🌊  Volume spike</a:t>
            </a:r>
            <a:endParaRPr lang="en-US" sz="1867" dirty="0">
              <a:solidFill>
                <a:prstClr val="black"/>
              </a:solidFill>
              <a:latin typeface="Calibri" panose="020F0502020204030204"/>
            </a:endParaRPr>
          </a:p>
        </p:txBody>
      </p:sp>
      <p:sp>
        <p:nvSpPr>
          <p:cNvPr id="22" name="Text 20"/>
          <p:cNvSpPr/>
          <p:nvPr/>
        </p:nvSpPr>
        <p:spPr>
          <a:xfrm>
            <a:off x="8351520" y="2560320"/>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What it is:</a:t>
            </a:r>
            <a:endParaRPr lang="en-US" sz="1333" dirty="0">
              <a:solidFill>
                <a:prstClr val="black"/>
              </a:solidFill>
              <a:latin typeface="Calibri" panose="020F0502020204030204"/>
            </a:endParaRPr>
          </a:p>
        </p:txBody>
      </p:sp>
      <p:sp>
        <p:nvSpPr>
          <p:cNvPr id="23" name="Text 21"/>
          <p:cNvSpPr/>
          <p:nvPr/>
        </p:nvSpPr>
        <p:spPr>
          <a:xfrm>
            <a:off x="8351520" y="2865120"/>
            <a:ext cx="3352800" cy="914400"/>
          </a:xfrm>
          <a:prstGeom prst="rect">
            <a:avLst/>
          </a:prstGeom>
          <a:noFill/>
          <a:ln/>
        </p:spPr>
        <p:txBody>
          <a:bodyPr wrap="square" rtlCol="0" anchor="t"/>
          <a:lstStyle/>
          <a:p>
            <a:pPr defTabSz="1219170"/>
            <a:r>
              <a:rPr lang="en-US" sz="1333" dirty="0">
                <a:solidFill>
                  <a:srgbClr val="FFFFFF"/>
                </a:solidFill>
                <a:latin typeface="Calibri" pitchFamily="34" charset="0"/>
                <a:ea typeface="Calibri" pitchFamily="34" charset="-122"/>
                <a:cs typeface="Calibri" pitchFamily="34" charset="-120"/>
              </a:rPr>
              <a:t>A sudden flood of trades — can signal the beginning of a flash crash or manipulation.</a:t>
            </a:r>
            <a:endParaRPr lang="en-US" sz="1333" dirty="0">
              <a:solidFill>
                <a:prstClr val="black"/>
              </a:solidFill>
              <a:latin typeface="Calibri" panose="020F0502020204030204"/>
            </a:endParaRPr>
          </a:p>
        </p:txBody>
      </p:sp>
      <p:sp>
        <p:nvSpPr>
          <p:cNvPr id="24" name="Text 22"/>
          <p:cNvSpPr/>
          <p:nvPr/>
        </p:nvSpPr>
        <p:spPr>
          <a:xfrm>
            <a:off x="8351520" y="3840480"/>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Detection:</a:t>
            </a:r>
            <a:endParaRPr lang="en-US" sz="1333" dirty="0">
              <a:solidFill>
                <a:prstClr val="black"/>
              </a:solidFill>
              <a:latin typeface="Calibri" panose="020F0502020204030204"/>
            </a:endParaRPr>
          </a:p>
        </p:txBody>
      </p:sp>
      <p:sp>
        <p:nvSpPr>
          <p:cNvPr id="25" name="Text 23"/>
          <p:cNvSpPr/>
          <p:nvPr/>
        </p:nvSpPr>
        <p:spPr>
          <a:xfrm>
            <a:off x="8351520" y="4120896"/>
            <a:ext cx="3352800" cy="755904"/>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Trade count in 10 seconds exceeds 2× the 10-minute rolling average. 30s cooldown.</a:t>
            </a:r>
            <a:endParaRPr lang="en-US" sz="1333" dirty="0">
              <a:solidFill>
                <a:prstClr val="black"/>
              </a:solidFill>
              <a:latin typeface="Calibri" panose="020F0502020204030204"/>
            </a:endParaRPr>
          </a:p>
        </p:txBody>
      </p:sp>
      <p:sp>
        <p:nvSpPr>
          <p:cNvPr id="26" name="Text 24"/>
          <p:cNvSpPr/>
          <p:nvPr/>
        </p:nvSpPr>
        <p:spPr>
          <a:xfrm>
            <a:off x="8351520" y="4901184"/>
            <a:ext cx="3352800" cy="304800"/>
          </a:xfrm>
          <a:prstGeom prst="rect">
            <a:avLst/>
          </a:prstGeom>
          <a:noFill/>
          <a:ln/>
        </p:spPr>
        <p:txBody>
          <a:bodyPr wrap="square" rtlCol="0" anchor="ctr"/>
          <a:lstStyle/>
          <a:p>
            <a:pPr defTabSz="1219170"/>
            <a:r>
              <a:rPr lang="en-US" sz="1333" dirty="0">
                <a:solidFill>
                  <a:srgbClr val="5A7A9A"/>
                </a:solidFill>
                <a:latin typeface="Calibri" pitchFamily="34" charset="0"/>
                <a:ea typeface="Calibri" pitchFamily="34" charset="-122"/>
                <a:cs typeface="Calibri" pitchFamily="34" charset="-120"/>
              </a:rPr>
              <a:t>Flink state:</a:t>
            </a:r>
            <a:endParaRPr lang="en-US" sz="1333" dirty="0">
              <a:solidFill>
                <a:prstClr val="black"/>
              </a:solidFill>
              <a:latin typeface="Calibri" panose="020F0502020204030204"/>
            </a:endParaRPr>
          </a:p>
        </p:txBody>
      </p:sp>
      <p:sp>
        <p:nvSpPr>
          <p:cNvPr id="27" name="Text 25"/>
          <p:cNvSpPr/>
          <p:nvPr/>
        </p:nvSpPr>
        <p:spPr>
          <a:xfrm>
            <a:off x="8351520" y="5181600"/>
            <a:ext cx="3352800" cy="877824"/>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ListState — sliding 10s window + 60-bucket rolling history per coin.</a:t>
            </a:r>
            <a:endParaRPr lang="en-US" sz="1333" dirty="0">
              <a:solidFill>
                <a:prstClr val="black"/>
              </a:solidFill>
              <a:latin typeface="Calibri" panose="020F0502020204030204"/>
            </a:endParaRPr>
          </a:p>
        </p:txBody>
      </p:sp>
      <p:sp>
        <p:nvSpPr>
          <p:cNvPr id="28" name="Text 26"/>
          <p:cNvSpPr/>
          <p:nvPr/>
        </p:nvSpPr>
        <p:spPr>
          <a:xfrm>
            <a:off x="365760" y="6522720"/>
            <a:ext cx="11460480" cy="304800"/>
          </a:xfrm>
          <a:prstGeom prst="rect">
            <a:avLst/>
          </a:prstGeom>
          <a:noFill/>
          <a:ln/>
        </p:spPr>
        <p:txBody>
          <a:bodyPr wrap="square" rtlCol="0" anchor="t"/>
          <a:lstStyle/>
          <a:p>
            <a:pPr defTabSz="1219170"/>
            <a:r>
              <a:rPr lang="en-US" sz="1333" dirty="0">
                <a:solidFill>
                  <a:srgbClr val="5A7A9A"/>
                </a:solidFill>
                <a:latin typeface="Calibri" pitchFamily="34" charset="0"/>
                <a:ea typeface="Calibri" pitchFamily="34" charset="-122"/>
                <a:cs typeface="Calibri" pitchFamily="34" charset="-120"/>
              </a:rPr>
              <a:t>Each match is saved as MEDIUM or HIGH severity and appears in the dashboard alerts table within seconds.</a:t>
            </a:r>
            <a:endParaRPr lang="en-US" sz="1333" dirty="0">
              <a:solidFill>
                <a:prstClr val="black"/>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320"/>
        </a:solidFill>
        <a:effectLst/>
      </p:bgPr>
    </p:bg>
    <p:spTree>
      <p:nvGrpSpPr>
        <p:cNvPr id="1" name="">
          <a:extLst>
            <a:ext uri="{FF2B5EF4-FFF2-40B4-BE49-F238E27FC236}">
              <a16:creationId xmlns:a16="http://schemas.microsoft.com/office/drawing/2014/main" id="{DE6DA5FC-1A12-E122-560F-651099C009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CD2309-BF44-F22B-8671-23E3A215EBEA}"/>
              </a:ext>
            </a:extLst>
          </p:cNvPr>
          <p:cNvSpPr/>
          <p:nvPr/>
        </p:nvSpPr>
        <p:spPr>
          <a:xfrm>
            <a:off x="774077" y="548640"/>
            <a:ext cx="2438400" cy="200055"/>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300" b="1" i="0" u="none" strike="noStrike" kern="1200" cap="none" spc="0" normalizeH="0" baseline="0" noProof="0" dirty="0">
                <a:ln>
                  <a:noFill/>
                </a:ln>
                <a:solidFill>
                  <a:srgbClr val="2EE6A6"/>
                </a:solidFill>
                <a:effectLst/>
                <a:uLnTx/>
                <a:uFillTx/>
                <a:latin typeface="Calibri"/>
                <a:ea typeface="+mn-ea"/>
                <a:cs typeface="+mn-cs"/>
              </a:rPr>
              <a:t>INSIDE </a:t>
            </a:r>
            <a:r>
              <a:rPr lang="en-US" sz="1300" b="1" dirty="0">
                <a:solidFill>
                  <a:srgbClr val="2EE6A6"/>
                </a:solidFill>
                <a:latin typeface="Calibri"/>
              </a:rPr>
              <a:t>POSTGRESQL</a:t>
            </a:r>
            <a:endParaRPr kumimoji="0" lang="en-US" sz="1300" b="1" i="0" u="none" strike="noStrike" kern="1200" cap="none" spc="0" normalizeH="0" baseline="0" noProof="0" dirty="0">
              <a:ln>
                <a:noFill/>
              </a:ln>
              <a:solidFill>
                <a:srgbClr val="2EE6A6"/>
              </a:solidFill>
              <a:effectLst/>
              <a:uLnTx/>
              <a:uFillTx/>
              <a:latin typeface="Calibri"/>
              <a:ea typeface="+mn-ea"/>
              <a:cs typeface="+mn-cs"/>
            </a:endParaRPr>
          </a:p>
        </p:txBody>
      </p:sp>
      <p:sp>
        <p:nvSpPr>
          <p:cNvPr id="3" name="Text 1">
            <a:extLst>
              <a:ext uri="{FF2B5EF4-FFF2-40B4-BE49-F238E27FC236}">
                <a16:creationId xmlns:a16="http://schemas.microsoft.com/office/drawing/2014/main" id="{9D3A8824-D87C-465D-CE9B-09E44E372EA4}"/>
              </a:ext>
            </a:extLst>
          </p:cNvPr>
          <p:cNvSpPr/>
          <p:nvPr/>
        </p:nvSpPr>
        <p:spPr>
          <a:xfrm>
            <a:off x="670560" y="548640"/>
            <a:ext cx="10850880" cy="91440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3000" b="1" dirty="0">
                <a:solidFill>
                  <a:srgbClr val="FFFFFF"/>
                </a:solidFill>
                <a:latin typeface="Georgia" pitchFamily="34" charset="0"/>
              </a:rPr>
              <a:t>3 Tables on PostgreSQL</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1DEA6FD3-894A-96D1-AB73-A8A1E22F68AB}"/>
              </a:ext>
            </a:extLst>
          </p:cNvPr>
          <p:cNvPicPr>
            <a:picLocks noChangeAspect="1"/>
          </p:cNvPicPr>
          <p:nvPr/>
        </p:nvPicPr>
        <p:blipFill>
          <a:blip r:embed="rId3"/>
          <a:stretch>
            <a:fillRect/>
          </a:stretch>
        </p:blipFill>
        <p:spPr>
          <a:xfrm>
            <a:off x="254000" y="3001573"/>
            <a:ext cx="4511431" cy="1379340"/>
          </a:xfrm>
          <a:prstGeom prst="rect">
            <a:avLst/>
          </a:prstGeom>
        </p:spPr>
      </p:pic>
      <p:pic>
        <p:nvPicPr>
          <p:cNvPr id="9" name="Picture 8">
            <a:extLst>
              <a:ext uri="{FF2B5EF4-FFF2-40B4-BE49-F238E27FC236}">
                <a16:creationId xmlns:a16="http://schemas.microsoft.com/office/drawing/2014/main" id="{34A9E667-53D2-467B-0E68-4B4DE4B5BF5C}"/>
              </a:ext>
            </a:extLst>
          </p:cNvPr>
          <p:cNvPicPr>
            <a:picLocks noChangeAspect="1"/>
          </p:cNvPicPr>
          <p:nvPr/>
        </p:nvPicPr>
        <p:blipFill>
          <a:blip r:embed="rId4"/>
          <a:stretch>
            <a:fillRect/>
          </a:stretch>
        </p:blipFill>
        <p:spPr>
          <a:xfrm>
            <a:off x="6078004" y="5132505"/>
            <a:ext cx="5356985" cy="1407753"/>
          </a:xfrm>
          <a:prstGeom prst="rect">
            <a:avLst/>
          </a:prstGeom>
        </p:spPr>
      </p:pic>
      <p:pic>
        <p:nvPicPr>
          <p:cNvPr id="12" name="Picture 11">
            <a:extLst>
              <a:ext uri="{FF2B5EF4-FFF2-40B4-BE49-F238E27FC236}">
                <a16:creationId xmlns:a16="http://schemas.microsoft.com/office/drawing/2014/main" id="{DC713B7A-A200-35A2-EDD2-C61284492265}"/>
              </a:ext>
            </a:extLst>
          </p:cNvPr>
          <p:cNvPicPr>
            <a:picLocks noChangeAspect="1"/>
          </p:cNvPicPr>
          <p:nvPr/>
        </p:nvPicPr>
        <p:blipFill>
          <a:blip r:embed="rId5"/>
          <a:srcRect r="2517"/>
          <a:stretch>
            <a:fillRect/>
          </a:stretch>
        </p:blipFill>
        <p:spPr>
          <a:xfrm>
            <a:off x="6095999" y="2989946"/>
            <a:ext cx="5374981" cy="1670112"/>
          </a:xfrm>
          <a:prstGeom prst="rect">
            <a:avLst/>
          </a:prstGeom>
        </p:spPr>
      </p:pic>
      <p:pic>
        <p:nvPicPr>
          <p:cNvPr id="16" name="Picture 15">
            <a:extLst>
              <a:ext uri="{FF2B5EF4-FFF2-40B4-BE49-F238E27FC236}">
                <a16:creationId xmlns:a16="http://schemas.microsoft.com/office/drawing/2014/main" id="{0F97B1EE-E2C7-E872-316C-B4F8521C8273}"/>
              </a:ext>
            </a:extLst>
          </p:cNvPr>
          <p:cNvPicPr>
            <a:picLocks noChangeAspect="1"/>
          </p:cNvPicPr>
          <p:nvPr/>
        </p:nvPicPr>
        <p:blipFill>
          <a:blip r:embed="rId6"/>
          <a:stretch>
            <a:fillRect/>
          </a:stretch>
        </p:blipFill>
        <p:spPr>
          <a:xfrm>
            <a:off x="6096000" y="637298"/>
            <a:ext cx="5374981" cy="1880201"/>
          </a:xfrm>
          <a:prstGeom prst="rect">
            <a:avLst/>
          </a:prstGeom>
        </p:spPr>
      </p:pic>
      <p:cxnSp>
        <p:nvCxnSpPr>
          <p:cNvPr id="20" name="Straight Arrow Connector 19">
            <a:extLst>
              <a:ext uri="{FF2B5EF4-FFF2-40B4-BE49-F238E27FC236}">
                <a16:creationId xmlns:a16="http://schemas.microsoft.com/office/drawing/2014/main" id="{2E832690-D3C8-5C0F-788A-A63C91D8FCBB}"/>
              </a:ext>
            </a:extLst>
          </p:cNvPr>
          <p:cNvCxnSpPr>
            <a:endCxn id="16" idx="1"/>
          </p:cNvCxnSpPr>
          <p:nvPr/>
        </p:nvCxnSpPr>
        <p:spPr>
          <a:xfrm flipV="1">
            <a:off x="2153920" y="1577399"/>
            <a:ext cx="3942080" cy="2113844"/>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1B71240-1C57-92D8-091D-F8FDCA9ECFA3}"/>
              </a:ext>
            </a:extLst>
          </p:cNvPr>
          <p:cNvCxnSpPr>
            <a:cxnSpLocks/>
            <a:endCxn id="12" idx="1"/>
          </p:cNvCxnSpPr>
          <p:nvPr/>
        </p:nvCxnSpPr>
        <p:spPr>
          <a:xfrm flipV="1">
            <a:off x="1975282" y="3825002"/>
            <a:ext cx="4120717" cy="125896"/>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C159B88-58B5-8AEE-B1DD-3B7C78963D23}"/>
              </a:ext>
            </a:extLst>
          </p:cNvPr>
          <p:cNvCxnSpPr>
            <a:cxnSpLocks/>
            <a:endCxn id="9" idx="1"/>
          </p:cNvCxnSpPr>
          <p:nvPr/>
        </p:nvCxnSpPr>
        <p:spPr>
          <a:xfrm>
            <a:off x="1993277" y="4110402"/>
            <a:ext cx="4084727" cy="1725980"/>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97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05840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dirty="0">
                <a:solidFill>
                  <a:srgbClr val="2EE6A6"/>
                </a:solidFill>
                <a:latin typeface="Calibri"/>
              </a:rPr>
              <a:t>WHAT THE USER SEES</a:t>
            </a: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The live dashboard</a:t>
            </a:r>
          </a:p>
        </p:txBody>
      </p:sp>
      <p:sp>
        <p:nvSpPr>
          <p:cNvPr id="5" name="Rounded Rectangle 4"/>
          <p:cNvSpPr/>
          <p:nvPr/>
        </p:nvSpPr>
        <p:spPr>
          <a:xfrm>
            <a:off x="667512" y="1673352"/>
            <a:ext cx="7717536" cy="422766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89720" y="1143000"/>
            <a:ext cx="3291840" cy="457200"/>
          </a:xfrm>
          <a:prstGeom prst="rect">
            <a:avLst/>
          </a:prstGeom>
          <a:noFill/>
        </p:spPr>
        <p:txBody>
          <a:bodyPr wrap="square" lIns="0" tIns="0" rIns="0" bIns="0" anchor="t">
            <a:spAutoFit/>
          </a:bodyPr>
          <a:lstStyle/>
          <a:p>
            <a:pPr algn="l">
              <a:lnSpc>
                <a:spcPct val="100000"/>
              </a:lnSpc>
              <a:spcBef>
                <a:spcPts val="0"/>
              </a:spcBef>
              <a:spcAft>
                <a:spcPts val="600"/>
              </a:spcAft>
            </a:pPr>
            <a:r>
              <a:rPr sz="1600" b="1" i="0">
                <a:solidFill>
                  <a:srgbClr val="2EE6A6"/>
                </a:solidFill>
                <a:latin typeface="Calibri"/>
              </a:rPr>
              <a:t>Five live panels</a:t>
            </a:r>
          </a:p>
        </p:txBody>
      </p:sp>
      <p:sp>
        <p:nvSpPr>
          <p:cNvPr id="8" name="TextBox 7"/>
          <p:cNvSpPr txBox="1"/>
          <p:nvPr/>
        </p:nvSpPr>
        <p:spPr>
          <a:xfrm>
            <a:off x="9189720" y="1737360"/>
            <a:ext cx="3291840" cy="415498"/>
          </a:xfrm>
          <a:prstGeom prst="rect">
            <a:avLst/>
          </a:prstGeom>
          <a:noFill/>
        </p:spPr>
        <p:txBody>
          <a:bodyPr wrap="square" lIns="0" tIns="0" rIns="0" bIns="0" anchor="t">
            <a:spAutoFit/>
          </a:bodyPr>
          <a:lstStyle/>
          <a:p>
            <a:pPr algn="l">
              <a:lnSpc>
                <a:spcPct val="100000"/>
              </a:lnSpc>
              <a:spcBef>
                <a:spcPts val="0"/>
              </a:spcBef>
              <a:spcAft>
                <a:spcPts val="0"/>
              </a:spcAft>
            </a:pPr>
            <a:r>
              <a:rPr sz="1450" b="1" i="0" dirty="0">
                <a:solidFill>
                  <a:srgbClr val="EAF0F8"/>
                </a:solidFill>
                <a:latin typeface="Calibri"/>
              </a:rPr>
              <a:t>Price ticker</a:t>
            </a:r>
          </a:p>
          <a:p>
            <a:pPr algn="l">
              <a:lnSpc>
                <a:spcPct val="100000"/>
              </a:lnSpc>
              <a:spcBef>
                <a:spcPts val="0"/>
              </a:spcBef>
              <a:spcAft>
                <a:spcPts val="0"/>
              </a:spcAft>
            </a:pPr>
            <a:r>
              <a:rPr sz="1250" b="0" i="0" dirty="0">
                <a:solidFill>
                  <a:srgbClr val="9AA8BD"/>
                </a:solidFill>
                <a:latin typeface="Calibri"/>
              </a:rPr>
              <a:t>price</a:t>
            </a:r>
          </a:p>
        </p:txBody>
      </p:sp>
      <p:sp>
        <p:nvSpPr>
          <p:cNvPr id="9" name="TextBox 8"/>
          <p:cNvSpPr txBox="1"/>
          <p:nvPr/>
        </p:nvSpPr>
        <p:spPr>
          <a:xfrm>
            <a:off x="9189720" y="2487168"/>
            <a:ext cx="3291840" cy="73152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EAF0F8"/>
                </a:solidFill>
                <a:latin typeface="Calibri"/>
              </a:rPr>
              <a:t>Candles</a:t>
            </a:r>
          </a:p>
          <a:p>
            <a:pPr algn="l">
              <a:lnSpc>
                <a:spcPct val="100000"/>
              </a:lnSpc>
              <a:spcBef>
                <a:spcPts val="0"/>
              </a:spcBef>
              <a:spcAft>
                <a:spcPts val="0"/>
              </a:spcAft>
            </a:pPr>
            <a:r>
              <a:rPr sz="1250" b="0" i="0">
                <a:solidFill>
                  <a:srgbClr val="9AA8BD"/>
                </a:solidFill>
                <a:latin typeface="Calibri"/>
              </a:rPr>
              <a:t>1-min or 5-min</a:t>
            </a:r>
          </a:p>
        </p:txBody>
      </p:sp>
      <p:sp>
        <p:nvSpPr>
          <p:cNvPr id="10" name="TextBox 9"/>
          <p:cNvSpPr txBox="1"/>
          <p:nvPr/>
        </p:nvSpPr>
        <p:spPr>
          <a:xfrm>
            <a:off x="9189720" y="3236976"/>
            <a:ext cx="3291840" cy="73152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EAF0F8"/>
                </a:solidFill>
                <a:latin typeface="Calibri"/>
              </a:rPr>
              <a:t>Volume bars</a:t>
            </a:r>
          </a:p>
          <a:p>
            <a:pPr algn="l">
              <a:lnSpc>
                <a:spcPct val="100000"/>
              </a:lnSpc>
              <a:spcBef>
                <a:spcPts val="0"/>
              </a:spcBef>
              <a:spcAft>
                <a:spcPts val="0"/>
              </a:spcAft>
            </a:pPr>
            <a:r>
              <a:rPr sz="1250" b="0" i="0">
                <a:solidFill>
                  <a:srgbClr val="9AA8BD"/>
                </a:solidFill>
                <a:latin typeface="Calibri"/>
              </a:rPr>
              <a:t>per coin</a:t>
            </a:r>
          </a:p>
        </p:txBody>
      </p:sp>
      <p:sp>
        <p:nvSpPr>
          <p:cNvPr id="11" name="TextBox 10"/>
          <p:cNvSpPr txBox="1"/>
          <p:nvPr/>
        </p:nvSpPr>
        <p:spPr>
          <a:xfrm>
            <a:off x="9189720" y="3986784"/>
            <a:ext cx="3291840" cy="73152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EAF0F8"/>
                </a:solidFill>
                <a:latin typeface="Calibri"/>
              </a:rPr>
              <a:t>Alert count</a:t>
            </a:r>
          </a:p>
          <a:p>
            <a:pPr algn="l">
              <a:lnSpc>
                <a:spcPct val="100000"/>
              </a:lnSpc>
              <a:spcBef>
                <a:spcPts val="0"/>
              </a:spcBef>
              <a:spcAft>
                <a:spcPts val="0"/>
              </a:spcAft>
            </a:pPr>
            <a:r>
              <a:rPr sz="1250" b="0" i="0">
                <a:solidFill>
                  <a:srgbClr val="9AA8BD"/>
                </a:solidFill>
                <a:latin typeface="Calibri"/>
              </a:rPr>
              <a:t>last hour</a:t>
            </a:r>
          </a:p>
        </p:txBody>
      </p:sp>
      <p:sp>
        <p:nvSpPr>
          <p:cNvPr id="12" name="TextBox 11"/>
          <p:cNvSpPr txBox="1"/>
          <p:nvPr/>
        </p:nvSpPr>
        <p:spPr>
          <a:xfrm>
            <a:off x="9189720" y="4736592"/>
            <a:ext cx="3291840" cy="73152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EAF0F8"/>
                </a:solidFill>
                <a:latin typeface="Calibri"/>
              </a:rPr>
              <a:t>Alerts table</a:t>
            </a:r>
          </a:p>
          <a:p>
            <a:pPr algn="l">
              <a:lnSpc>
                <a:spcPct val="100000"/>
              </a:lnSpc>
              <a:spcBef>
                <a:spcPts val="0"/>
              </a:spcBef>
              <a:spcAft>
                <a:spcPts val="0"/>
              </a:spcAft>
            </a:pPr>
            <a:r>
              <a:rPr sz="1250" b="0" i="0">
                <a:solidFill>
                  <a:srgbClr val="9AA8BD"/>
                </a:solidFill>
                <a:latin typeface="Calibri"/>
              </a:rPr>
              <a:t>what + how serious</a:t>
            </a:r>
          </a:p>
        </p:txBody>
      </p:sp>
      <p:sp>
        <p:nvSpPr>
          <p:cNvPr id="13" name="TextBox 12"/>
          <p:cNvSpPr txBox="1"/>
          <p:nvPr/>
        </p:nvSpPr>
        <p:spPr>
          <a:xfrm>
            <a:off x="9189720" y="5532120"/>
            <a:ext cx="3291840" cy="457200"/>
          </a:xfrm>
          <a:prstGeom prst="rect">
            <a:avLst/>
          </a:prstGeom>
          <a:noFill/>
        </p:spPr>
        <p:txBody>
          <a:bodyPr wrap="square" lIns="0" tIns="0" rIns="0" bIns="0" anchor="t">
            <a:spAutoFit/>
          </a:bodyPr>
          <a:lstStyle/>
          <a:p>
            <a:pPr algn="l">
              <a:lnSpc>
                <a:spcPct val="100000"/>
              </a:lnSpc>
              <a:spcBef>
                <a:spcPts val="0"/>
              </a:spcBef>
              <a:spcAft>
                <a:spcPts val="0"/>
              </a:spcAft>
            </a:pPr>
            <a:r>
              <a:rPr sz="1250" b="0" i="1">
                <a:solidFill>
                  <a:srgbClr val="9AA8BD"/>
                </a:solidFill>
                <a:latin typeface="Calibri"/>
              </a:rPr>
              <a:t>Pick a coin and candle</a:t>
            </a:r>
          </a:p>
          <a:p>
            <a:pPr algn="l">
              <a:lnSpc>
                <a:spcPct val="100000"/>
              </a:lnSpc>
              <a:spcBef>
                <a:spcPts val="0"/>
              </a:spcBef>
              <a:spcAft>
                <a:spcPts val="0"/>
              </a:spcAft>
            </a:pPr>
            <a:r>
              <a:rPr sz="1250" b="0" i="1">
                <a:solidFill>
                  <a:srgbClr val="9AA8BD"/>
                </a:solidFill>
                <a:latin typeface="Calibri"/>
              </a:rPr>
              <a:t>size from the menus.</a:t>
            </a:r>
          </a:p>
        </p:txBody>
      </p:sp>
      <p:pic>
        <p:nvPicPr>
          <p:cNvPr id="15" name="Picture 14">
            <a:extLst>
              <a:ext uri="{FF2B5EF4-FFF2-40B4-BE49-F238E27FC236}">
                <a16:creationId xmlns:a16="http://schemas.microsoft.com/office/drawing/2014/main" id="{F41DD00E-B930-CAE0-630E-78DA6036837A}"/>
              </a:ext>
            </a:extLst>
          </p:cNvPr>
          <p:cNvPicPr>
            <a:picLocks noChangeAspect="1"/>
          </p:cNvPicPr>
          <p:nvPr/>
        </p:nvPicPr>
        <p:blipFill>
          <a:blip r:embed="rId3"/>
          <a:stretch>
            <a:fillRect/>
          </a:stretch>
        </p:blipFill>
        <p:spPr>
          <a:xfrm>
            <a:off x="822942" y="1832078"/>
            <a:ext cx="7406675" cy="39103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058400" cy="200055"/>
          </a:xfrm>
          <a:prstGeom prst="rect">
            <a:avLst/>
          </a:prstGeom>
          <a:noFill/>
        </p:spPr>
        <p:txBody>
          <a:bodyPr wrap="square" lIns="0" tIns="0" rIns="0" bIns="0" anchor="t">
            <a:spAutoFit/>
          </a:bodyPr>
          <a:lstStyle/>
          <a:p>
            <a:pPr algn="l">
              <a:lnSpc>
                <a:spcPct val="100000"/>
              </a:lnSpc>
              <a:spcBef>
                <a:spcPts val="0"/>
              </a:spcBef>
              <a:spcAft>
                <a:spcPts val="600"/>
              </a:spcAft>
            </a:pPr>
            <a:r>
              <a:rPr lang="en-US" sz="1300" b="1" i="0" dirty="0">
                <a:solidFill>
                  <a:srgbClr val="2EE6A6"/>
                </a:solidFill>
                <a:latin typeface="Calibri"/>
              </a:rPr>
              <a:t>THE CORE</a:t>
            </a:r>
            <a:endParaRPr sz="1300" b="1" i="0" dirty="0">
              <a:solidFill>
                <a:srgbClr val="2EE6A6"/>
              </a:solidFill>
              <a:latin typeface="Calibri"/>
            </a:endParaRP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Turning trades into price candles</a:t>
            </a:r>
          </a:p>
        </p:txBody>
      </p:sp>
      <p:sp>
        <p:nvSpPr>
          <p:cNvPr id="5" name="Rounded Rectangle 4"/>
          <p:cNvSpPr/>
          <p:nvPr/>
        </p:nvSpPr>
        <p:spPr>
          <a:xfrm>
            <a:off x="1503273" y="1810512"/>
            <a:ext cx="9154972" cy="34198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g_candle.png"/>
          <p:cNvPicPr>
            <a:picLocks noChangeAspect="1"/>
          </p:cNvPicPr>
          <p:nvPr/>
        </p:nvPicPr>
        <p:blipFill>
          <a:blip r:embed="rId3"/>
          <a:stretch>
            <a:fillRect/>
          </a:stretch>
        </p:blipFill>
        <p:spPr>
          <a:xfrm>
            <a:off x="1613001" y="1920240"/>
            <a:ext cx="8935516" cy="3200400"/>
          </a:xfrm>
          <a:prstGeom prst="rect">
            <a:avLst/>
          </a:prstGeom>
        </p:spPr>
      </p:pic>
      <p:sp>
        <p:nvSpPr>
          <p:cNvPr id="7" name="TextBox 6"/>
          <p:cNvSpPr txBox="1"/>
          <p:nvPr/>
        </p:nvSpPr>
        <p:spPr>
          <a:xfrm>
            <a:off x="777240" y="5486400"/>
            <a:ext cx="10607040" cy="822960"/>
          </a:xfrm>
          <a:prstGeom prst="rect">
            <a:avLst/>
          </a:prstGeom>
          <a:noFill/>
        </p:spPr>
        <p:txBody>
          <a:bodyPr wrap="square" lIns="0" tIns="0" rIns="0" bIns="0" anchor="t">
            <a:spAutoFit/>
          </a:bodyPr>
          <a:lstStyle/>
          <a:p>
            <a:pPr algn="ctr">
              <a:lnSpc>
                <a:spcPct val="100000"/>
              </a:lnSpc>
              <a:spcBef>
                <a:spcPts val="0"/>
              </a:spcBef>
              <a:spcAft>
                <a:spcPts val="600"/>
              </a:spcAft>
            </a:pPr>
            <a:r>
              <a:rPr sz="1500" b="0" i="0">
                <a:solidFill>
                  <a:srgbClr val="EAF0F8"/>
                </a:solidFill>
                <a:latin typeface="Calibri"/>
              </a:rPr>
              <a:t>Flink groups one minute of trades into a single candle: first, highest, lowest and last price. It uses each trade's real time, so late trades still land in the right candle.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320"/>
        </a:solidFill>
        <a:effectLst/>
      </p:bgPr>
    </p:bg>
    <p:spTree>
      <p:nvGrpSpPr>
        <p:cNvPr id="1" name=""/>
        <p:cNvGrpSpPr/>
        <p:nvPr/>
      </p:nvGrpSpPr>
      <p:grpSpPr>
        <a:xfrm>
          <a:off x="0" y="0"/>
          <a:ext cx="0" cy="0"/>
          <a:chOff x="0" y="0"/>
          <a:chExt cx="0" cy="0"/>
        </a:xfrm>
      </p:grpSpPr>
      <p:sp>
        <p:nvSpPr>
          <p:cNvPr id="2" name="Text 0"/>
          <p:cNvSpPr/>
          <p:nvPr/>
        </p:nvSpPr>
        <p:spPr>
          <a:xfrm>
            <a:off x="756824" y="609600"/>
            <a:ext cx="2438400" cy="200055"/>
          </a:xfrm>
          <a:prstGeom prst="rect">
            <a:avLst/>
          </a:prstGeom>
          <a:noFill/>
        </p:spPr>
        <p:txBody>
          <a:bodyPr wrap="square" lIns="0" tIns="0" rIns="0" bIns="0" anchor="t">
            <a:spAutoFit/>
          </a:bodyPr>
          <a:lstStyle/>
          <a:p>
            <a:pPr>
              <a:spcAft>
                <a:spcPts val="600"/>
              </a:spcAft>
            </a:pPr>
            <a:r>
              <a:rPr lang="en-US" sz="1300" b="1" dirty="0">
                <a:solidFill>
                  <a:srgbClr val="2EE6A6"/>
                </a:solidFill>
                <a:latin typeface="Calibri"/>
              </a:rPr>
              <a:t>IDEA 2</a:t>
            </a:r>
          </a:p>
        </p:txBody>
      </p:sp>
      <p:sp>
        <p:nvSpPr>
          <p:cNvPr id="3" name="Text 1"/>
          <p:cNvSpPr/>
          <p:nvPr/>
        </p:nvSpPr>
        <p:spPr>
          <a:xfrm>
            <a:off x="670560" y="670560"/>
            <a:ext cx="10850880" cy="914400"/>
          </a:xfrm>
          <a:prstGeom prst="rect">
            <a:avLst/>
          </a:prstGeom>
          <a:noFill/>
          <a:ln/>
        </p:spPr>
        <p:txBody>
          <a:bodyPr wrap="square" rtlCol="0" anchor="ctr"/>
          <a:lstStyle/>
          <a:p>
            <a:pPr defTabSz="1219170"/>
            <a:r>
              <a:rPr lang="en-US" sz="3000" b="1" dirty="0">
                <a:solidFill>
                  <a:srgbClr val="FFFFFF"/>
                </a:solidFill>
                <a:latin typeface="Georgia" pitchFamily="34" charset="0"/>
                <a:ea typeface="Georgia" pitchFamily="34" charset="-122"/>
                <a:cs typeface="Georgia" pitchFamily="34" charset="-120"/>
              </a:rPr>
              <a:t>Turning trades into price candles</a:t>
            </a:r>
            <a:endParaRPr lang="en-US" sz="3000" dirty="0">
              <a:solidFill>
                <a:prstClr val="black"/>
              </a:solidFill>
              <a:latin typeface="Calibri" panose="020F0502020204030204"/>
            </a:endParaRPr>
          </a:p>
        </p:txBody>
      </p:sp>
      <p:sp>
        <p:nvSpPr>
          <p:cNvPr id="4" name="Text 2"/>
          <p:cNvSpPr/>
          <p:nvPr/>
        </p:nvSpPr>
        <p:spPr>
          <a:xfrm>
            <a:off x="670560" y="1597151"/>
            <a:ext cx="10972800" cy="550825"/>
          </a:xfrm>
          <a:prstGeom prst="rect">
            <a:avLst/>
          </a:prstGeom>
          <a:noFill/>
          <a:ln/>
        </p:spPr>
        <p:txBody>
          <a:bodyPr wrap="square" rtlCol="0" anchor="t"/>
          <a:lstStyle/>
          <a:p>
            <a:pPr defTabSz="1219170"/>
            <a:r>
              <a:rPr lang="en-US" sz="1600" dirty="0">
                <a:solidFill>
                  <a:srgbClr val="8FA8C8"/>
                </a:solidFill>
                <a:latin typeface="Calibri" pitchFamily="34" charset="0"/>
                <a:ea typeface="Calibri" pitchFamily="34" charset="-122"/>
                <a:cs typeface="Calibri" pitchFamily="34" charset="-120"/>
              </a:rPr>
              <a:t>Traders read price candles. A candle is a simple summary of a short period: the first price (open), the highest, the lowest, and the last price (close). Flink groups all trades in each window into a single candle using TumblingEventTimeWindows.</a:t>
            </a:r>
            <a:endParaRPr lang="en-US" sz="1600" dirty="0">
              <a:solidFill>
                <a:prstClr val="black"/>
              </a:solidFill>
              <a:latin typeface="Calibri" panose="020F0502020204030204"/>
            </a:endParaRPr>
          </a:p>
        </p:txBody>
      </p:sp>
      <p:sp>
        <p:nvSpPr>
          <p:cNvPr id="5" name="Shape 3"/>
          <p:cNvSpPr/>
          <p:nvPr/>
        </p:nvSpPr>
        <p:spPr>
          <a:xfrm>
            <a:off x="670560" y="2438400"/>
            <a:ext cx="5364480" cy="1584960"/>
          </a:xfrm>
          <a:prstGeom prst="roundRect">
            <a:avLst>
              <a:gd name="adj" fmla="val 6154"/>
            </a:avLst>
          </a:prstGeom>
          <a:solidFill>
            <a:srgbClr val="1A2840"/>
          </a:solidFill>
          <a:ln w="6350">
            <a:solidFill>
              <a:srgbClr val="4FC3F7"/>
            </a:solidFill>
            <a:prstDash val="solid"/>
          </a:ln>
        </p:spPr>
        <p:txBody>
          <a:bodyPr/>
          <a:lstStyle/>
          <a:p>
            <a:pPr defTabSz="1219170"/>
            <a:endParaRPr lang="en-IN" sz="2400">
              <a:solidFill>
                <a:prstClr val="black"/>
              </a:solidFill>
              <a:latin typeface="Calibri" panose="020F0502020204030204"/>
            </a:endParaRPr>
          </a:p>
        </p:txBody>
      </p:sp>
      <p:sp>
        <p:nvSpPr>
          <p:cNvPr id="6" name="Text 4"/>
          <p:cNvSpPr/>
          <p:nvPr/>
        </p:nvSpPr>
        <p:spPr>
          <a:xfrm>
            <a:off x="853440" y="2584704"/>
            <a:ext cx="4998720" cy="463296"/>
          </a:xfrm>
          <a:prstGeom prst="rect">
            <a:avLst/>
          </a:prstGeom>
          <a:noFill/>
          <a:ln/>
        </p:spPr>
        <p:txBody>
          <a:bodyPr wrap="square" rtlCol="0" anchor="ctr"/>
          <a:lstStyle/>
          <a:p>
            <a:pPr defTabSz="1219170"/>
            <a:r>
              <a:rPr lang="en-US" sz="1733" b="1" dirty="0">
                <a:solidFill>
                  <a:srgbClr val="4FC3F7"/>
                </a:solidFill>
                <a:latin typeface="Calibri" pitchFamily="34" charset="0"/>
                <a:ea typeface="Calibri" pitchFamily="34" charset="-122"/>
                <a:cs typeface="Calibri" pitchFamily="34" charset="-120"/>
              </a:rPr>
              <a:t>1-min window</a:t>
            </a:r>
            <a:endParaRPr lang="en-US" sz="1733" dirty="0">
              <a:solidFill>
                <a:prstClr val="black"/>
              </a:solidFill>
              <a:latin typeface="Calibri" panose="020F0502020204030204"/>
            </a:endParaRPr>
          </a:p>
        </p:txBody>
      </p:sp>
      <p:sp>
        <p:nvSpPr>
          <p:cNvPr id="7" name="Text 5"/>
          <p:cNvSpPr/>
          <p:nvPr/>
        </p:nvSpPr>
        <p:spPr>
          <a:xfrm>
            <a:off x="853440" y="3108960"/>
            <a:ext cx="4998720" cy="365760"/>
          </a:xfrm>
          <a:prstGeom prst="rect">
            <a:avLst/>
          </a:prstGeom>
          <a:noFill/>
          <a:ln/>
        </p:spPr>
        <p:txBody>
          <a:bodyPr wrap="square" rtlCol="0" anchor="ctr"/>
          <a:lstStyle/>
          <a:p>
            <a:pPr defTabSz="1219170"/>
            <a:r>
              <a:rPr lang="en-US" sz="1467" dirty="0">
                <a:solidFill>
                  <a:srgbClr val="8FA8C8"/>
                </a:solidFill>
                <a:latin typeface="Calibri" pitchFamily="34" charset="0"/>
                <a:ea typeface="Calibri" pitchFamily="34" charset="-122"/>
                <a:cs typeface="Calibri" pitchFamily="34" charset="-120"/>
              </a:rPr>
              <a:t>open · high · low · close · volume · count</a:t>
            </a:r>
            <a:endParaRPr lang="en-US" sz="1467" dirty="0">
              <a:solidFill>
                <a:prstClr val="black"/>
              </a:solidFill>
              <a:latin typeface="Calibri" panose="020F0502020204030204"/>
            </a:endParaRPr>
          </a:p>
        </p:txBody>
      </p:sp>
      <p:sp>
        <p:nvSpPr>
          <p:cNvPr id="8" name="Text 6"/>
          <p:cNvSpPr/>
          <p:nvPr/>
        </p:nvSpPr>
        <p:spPr>
          <a:xfrm>
            <a:off x="853440" y="3511296"/>
            <a:ext cx="4998720" cy="365760"/>
          </a:xfrm>
          <a:prstGeom prst="rect">
            <a:avLst/>
          </a:prstGeom>
          <a:noFill/>
          <a:ln/>
        </p:spPr>
        <p:txBody>
          <a:bodyPr wrap="square" rtlCol="0" anchor="ctr"/>
          <a:lstStyle/>
          <a:p>
            <a:pPr defTabSz="1219170"/>
            <a:r>
              <a:rPr lang="en-US" sz="1333" i="1" dirty="0">
                <a:solidFill>
                  <a:srgbClr val="5A7A9A"/>
                </a:solidFill>
                <a:latin typeface="Calibri" pitchFamily="34" charset="0"/>
                <a:ea typeface="Calibri" pitchFamily="34" charset="-122"/>
                <a:cs typeface="Calibri" pitchFamily="34" charset="-120"/>
              </a:rPr>
              <a:t>→ Grafana candlestick chart</a:t>
            </a:r>
            <a:endParaRPr lang="en-US" sz="1333" dirty="0">
              <a:solidFill>
                <a:prstClr val="black"/>
              </a:solidFill>
              <a:latin typeface="Calibri" panose="020F0502020204030204"/>
            </a:endParaRPr>
          </a:p>
        </p:txBody>
      </p:sp>
      <p:sp>
        <p:nvSpPr>
          <p:cNvPr id="9" name="Shape 7"/>
          <p:cNvSpPr/>
          <p:nvPr/>
        </p:nvSpPr>
        <p:spPr>
          <a:xfrm>
            <a:off x="6339840" y="2438400"/>
            <a:ext cx="5364480" cy="1584960"/>
          </a:xfrm>
          <a:prstGeom prst="roundRect">
            <a:avLst>
              <a:gd name="adj" fmla="val 6154"/>
            </a:avLst>
          </a:prstGeom>
          <a:solidFill>
            <a:srgbClr val="1A2840"/>
          </a:solidFill>
          <a:ln w="6350">
            <a:solidFill>
              <a:srgbClr val="26A69A"/>
            </a:solidFill>
            <a:prstDash val="solid"/>
          </a:ln>
        </p:spPr>
        <p:txBody>
          <a:bodyPr/>
          <a:lstStyle/>
          <a:p>
            <a:pPr defTabSz="1219170"/>
            <a:endParaRPr lang="en-IN" sz="2400">
              <a:solidFill>
                <a:prstClr val="black"/>
              </a:solidFill>
              <a:latin typeface="Calibri" panose="020F0502020204030204"/>
            </a:endParaRPr>
          </a:p>
        </p:txBody>
      </p:sp>
      <p:sp>
        <p:nvSpPr>
          <p:cNvPr id="10" name="Text 8"/>
          <p:cNvSpPr/>
          <p:nvPr/>
        </p:nvSpPr>
        <p:spPr>
          <a:xfrm>
            <a:off x="6522720" y="2584704"/>
            <a:ext cx="4998720" cy="463296"/>
          </a:xfrm>
          <a:prstGeom prst="rect">
            <a:avLst/>
          </a:prstGeom>
          <a:noFill/>
          <a:ln/>
        </p:spPr>
        <p:txBody>
          <a:bodyPr wrap="square" rtlCol="0" anchor="ctr"/>
          <a:lstStyle/>
          <a:p>
            <a:pPr defTabSz="1219170"/>
            <a:r>
              <a:rPr lang="en-US" sz="1733" b="1" dirty="0">
                <a:solidFill>
                  <a:srgbClr val="26A69A"/>
                </a:solidFill>
                <a:latin typeface="Calibri" pitchFamily="34" charset="0"/>
                <a:ea typeface="Calibri" pitchFamily="34" charset="-122"/>
                <a:cs typeface="Calibri" pitchFamily="34" charset="-120"/>
              </a:rPr>
              <a:t>5-min window</a:t>
            </a:r>
            <a:endParaRPr lang="en-US" sz="1733" dirty="0">
              <a:solidFill>
                <a:prstClr val="black"/>
              </a:solidFill>
              <a:latin typeface="Calibri" panose="020F0502020204030204"/>
            </a:endParaRPr>
          </a:p>
        </p:txBody>
      </p:sp>
      <p:sp>
        <p:nvSpPr>
          <p:cNvPr id="11" name="Text 9"/>
          <p:cNvSpPr/>
          <p:nvPr/>
        </p:nvSpPr>
        <p:spPr>
          <a:xfrm>
            <a:off x="6522720" y="3108960"/>
            <a:ext cx="4998720" cy="365760"/>
          </a:xfrm>
          <a:prstGeom prst="rect">
            <a:avLst/>
          </a:prstGeom>
          <a:noFill/>
          <a:ln/>
        </p:spPr>
        <p:txBody>
          <a:bodyPr wrap="square" rtlCol="0" anchor="ctr"/>
          <a:lstStyle/>
          <a:p>
            <a:pPr defTabSz="1219170"/>
            <a:r>
              <a:rPr lang="en-US" sz="1467" dirty="0">
                <a:solidFill>
                  <a:srgbClr val="8FA8C8"/>
                </a:solidFill>
                <a:latin typeface="Calibri" pitchFamily="34" charset="0"/>
                <a:ea typeface="Calibri" pitchFamily="34" charset="-122"/>
                <a:cs typeface="Calibri" pitchFamily="34" charset="-120"/>
              </a:rPr>
              <a:t>open · high · low · close · volume · count</a:t>
            </a:r>
            <a:endParaRPr lang="en-US" sz="1467" dirty="0">
              <a:solidFill>
                <a:prstClr val="black"/>
              </a:solidFill>
              <a:latin typeface="Calibri" panose="020F0502020204030204"/>
            </a:endParaRPr>
          </a:p>
        </p:txBody>
      </p:sp>
      <p:sp>
        <p:nvSpPr>
          <p:cNvPr id="12" name="Text 10"/>
          <p:cNvSpPr/>
          <p:nvPr/>
        </p:nvSpPr>
        <p:spPr>
          <a:xfrm>
            <a:off x="6522720" y="3511296"/>
            <a:ext cx="4998720" cy="365760"/>
          </a:xfrm>
          <a:prstGeom prst="rect">
            <a:avLst/>
          </a:prstGeom>
          <a:noFill/>
          <a:ln/>
        </p:spPr>
        <p:txBody>
          <a:bodyPr wrap="square" rtlCol="0" anchor="ctr"/>
          <a:lstStyle/>
          <a:p>
            <a:pPr defTabSz="1219170"/>
            <a:r>
              <a:rPr lang="en-US" sz="1333" i="1" dirty="0">
                <a:solidFill>
                  <a:srgbClr val="5A7A9A"/>
                </a:solidFill>
                <a:latin typeface="Calibri" pitchFamily="34" charset="0"/>
                <a:ea typeface="Calibri" pitchFamily="34" charset="-122"/>
                <a:cs typeface="Calibri" pitchFamily="34" charset="-120"/>
              </a:rPr>
              <a:t>→ Broader trend analysis</a:t>
            </a:r>
            <a:endParaRPr lang="en-US" sz="1333" dirty="0">
              <a:solidFill>
                <a:prstClr val="black"/>
              </a:solidFill>
              <a:latin typeface="Calibri" panose="020F0502020204030204"/>
            </a:endParaRPr>
          </a:p>
        </p:txBody>
      </p:sp>
      <p:sp>
        <p:nvSpPr>
          <p:cNvPr id="13" name="Text 11"/>
          <p:cNvSpPr/>
          <p:nvPr/>
        </p:nvSpPr>
        <p:spPr>
          <a:xfrm>
            <a:off x="670560" y="4206240"/>
            <a:ext cx="10972800" cy="426720"/>
          </a:xfrm>
          <a:prstGeom prst="rect">
            <a:avLst/>
          </a:prstGeom>
          <a:noFill/>
          <a:ln/>
        </p:spPr>
        <p:txBody>
          <a:bodyPr wrap="square" rtlCol="0" anchor="t"/>
          <a:lstStyle/>
          <a:p>
            <a:pPr defTabSz="1219170"/>
            <a:r>
              <a:rPr lang="en-US" sz="1467" dirty="0">
                <a:solidFill>
                  <a:srgbClr val="FFB300"/>
                </a:solidFill>
                <a:latin typeface="Calibri" pitchFamily="34" charset="0"/>
                <a:ea typeface="Calibri" pitchFamily="34" charset="-122"/>
                <a:cs typeface="Calibri" pitchFamily="34" charset="-120"/>
              </a:rPr>
              <a:t>The Grafana dashboard has a $candle_size dropdown — switch between 1-minute and 5-minute candles without any code change.</a:t>
            </a:r>
            <a:endParaRPr lang="en-US" sz="1467" dirty="0">
              <a:solidFill>
                <a:prstClr val="black"/>
              </a:solidFill>
              <a:latin typeface="Calibri" panose="020F0502020204030204"/>
            </a:endParaRPr>
          </a:p>
        </p:txBody>
      </p:sp>
      <p:sp>
        <p:nvSpPr>
          <p:cNvPr id="14" name="Shape 12"/>
          <p:cNvSpPr/>
          <p:nvPr/>
        </p:nvSpPr>
        <p:spPr>
          <a:xfrm>
            <a:off x="670560" y="4779264"/>
            <a:ext cx="3535680" cy="1609344"/>
          </a:xfrm>
          <a:prstGeom prst="roundRect">
            <a:avLst>
              <a:gd name="adj" fmla="val 6061"/>
            </a:avLst>
          </a:prstGeom>
          <a:solidFill>
            <a:srgbClr val="1A2840"/>
          </a:solidFill>
          <a:ln w="6350">
            <a:solidFill>
              <a:srgbClr val="00C896"/>
            </a:solidFill>
            <a:prstDash val="solid"/>
          </a:ln>
        </p:spPr>
        <p:txBody>
          <a:bodyPr/>
          <a:lstStyle/>
          <a:p>
            <a:pPr defTabSz="1219170"/>
            <a:endParaRPr lang="en-IN" sz="2400">
              <a:solidFill>
                <a:prstClr val="black"/>
              </a:solidFill>
              <a:latin typeface="Calibri" panose="020F0502020204030204"/>
            </a:endParaRPr>
          </a:p>
        </p:txBody>
      </p:sp>
      <p:sp>
        <p:nvSpPr>
          <p:cNvPr id="15" name="Text 13"/>
          <p:cNvSpPr/>
          <p:nvPr/>
        </p:nvSpPr>
        <p:spPr>
          <a:xfrm>
            <a:off x="853440" y="4925568"/>
            <a:ext cx="3169920" cy="426720"/>
          </a:xfrm>
          <a:prstGeom prst="rect">
            <a:avLst/>
          </a:prstGeom>
          <a:noFill/>
          <a:ln/>
        </p:spPr>
        <p:txBody>
          <a:bodyPr wrap="square" rtlCol="0" anchor="ctr"/>
          <a:lstStyle/>
          <a:p>
            <a:pPr defTabSz="1219170"/>
            <a:r>
              <a:rPr lang="en-US" sz="1467" b="1" dirty="0">
                <a:solidFill>
                  <a:srgbClr val="00C896"/>
                </a:solidFill>
                <a:latin typeface="Calibri" pitchFamily="34" charset="0"/>
                <a:ea typeface="Calibri" pitchFamily="34" charset="-122"/>
                <a:cs typeface="Calibri" pitchFamily="34" charset="-120"/>
              </a:rPr>
              <a:t>Green candle</a:t>
            </a:r>
            <a:endParaRPr lang="en-US" sz="1467" dirty="0">
              <a:solidFill>
                <a:prstClr val="black"/>
              </a:solidFill>
              <a:latin typeface="Calibri" panose="020F0502020204030204"/>
            </a:endParaRPr>
          </a:p>
        </p:txBody>
      </p:sp>
      <p:sp>
        <p:nvSpPr>
          <p:cNvPr id="16" name="Text 14"/>
          <p:cNvSpPr/>
          <p:nvPr/>
        </p:nvSpPr>
        <p:spPr>
          <a:xfrm>
            <a:off x="853440" y="5413248"/>
            <a:ext cx="3169920" cy="914400"/>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Close price &gt; open price — buyers were in control that minute</a:t>
            </a:r>
            <a:endParaRPr lang="en-US" sz="1333" dirty="0">
              <a:solidFill>
                <a:prstClr val="black"/>
              </a:solidFill>
              <a:latin typeface="Calibri" panose="020F0502020204030204"/>
            </a:endParaRPr>
          </a:p>
        </p:txBody>
      </p:sp>
      <p:sp>
        <p:nvSpPr>
          <p:cNvPr id="17" name="Shape 15"/>
          <p:cNvSpPr/>
          <p:nvPr/>
        </p:nvSpPr>
        <p:spPr>
          <a:xfrm>
            <a:off x="4450080" y="4779264"/>
            <a:ext cx="3535680" cy="1609344"/>
          </a:xfrm>
          <a:prstGeom prst="roundRect">
            <a:avLst>
              <a:gd name="adj" fmla="val 6061"/>
            </a:avLst>
          </a:prstGeom>
          <a:solidFill>
            <a:srgbClr val="1A2840"/>
          </a:solidFill>
          <a:ln w="6350">
            <a:solidFill>
              <a:srgbClr val="FF5252"/>
            </a:solidFill>
            <a:prstDash val="solid"/>
          </a:ln>
        </p:spPr>
        <p:txBody>
          <a:bodyPr/>
          <a:lstStyle/>
          <a:p>
            <a:pPr defTabSz="1219170"/>
            <a:endParaRPr lang="en-IN" sz="2400">
              <a:solidFill>
                <a:prstClr val="black"/>
              </a:solidFill>
              <a:latin typeface="Calibri" panose="020F0502020204030204"/>
            </a:endParaRPr>
          </a:p>
        </p:txBody>
      </p:sp>
      <p:sp>
        <p:nvSpPr>
          <p:cNvPr id="18" name="Text 16"/>
          <p:cNvSpPr/>
          <p:nvPr/>
        </p:nvSpPr>
        <p:spPr>
          <a:xfrm>
            <a:off x="4632960" y="4925568"/>
            <a:ext cx="3169920" cy="426720"/>
          </a:xfrm>
          <a:prstGeom prst="rect">
            <a:avLst/>
          </a:prstGeom>
          <a:noFill/>
          <a:ln/>
        </p:spPr>
        <p:txBody>
          <a:bodyPr wrap="square" rtlCol="0" anchor="ctr"/>
          <a:lstStyle/>
          <a:p>
            <a:pPr defTabSz="1219170"/>
            <a:r>
              <a:rPr lang="en-US" sz="1467" b="1" dirty="0">
                <a:solidFill>
                  <a:srgbClr val="FF5252"/>
                </a:solidFill>
                <a:latin typeface="Calibri" pitchFamily="34" charset="0"/>
                <a:ea typeface="Calibri" pitchFamily="34" charset="-122"/>
                <a:cs typeface="Calibri" pitchFamily="34" charset="-120"/>
              </a:rPr>
              <a:t>Red candle</a:t>
            </a:r>
            <a:endParaRPr lang="en-US" sz="1467" dirty="0">
              <a:solidFill>
                <a:prstClr val="black"/>
              </a:solidFill>
              <a:latin typeface="Calibri" panose="020F0502020204030204"/>
            </a:endParaRPr>
          </a:p>
        </p:txBody>
      </p:sp>
      <p:sp>
        <p:nvSpPr>
          <p:cNvPr id="19" name="Text 17"/>
          <p:cNvSpPr/>
          <p:nvPr/>
        </p:nvSpPr>
        <p:spPr>
          <a:xfrm>
            <a:off x="4632960" y="5413248"/>
            <a:ext cx="3169920" cy="914400"/>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Close price &lt; open price — sellers were in control that minute</a:t>
            </a:r>
            <a:endParaRPr lang="en-US" sz="1333" dirty="0">
              <a:solidFill>
                <a:prstClr val="black"/>
              </a:solidFill>
              <a:latin typeface="Calibri" panose="020F0502020204030204"/>
            </a:endParaRPr>
          </a:p>
        </p:txBody>
      </p:sp>
      <p:sp>
        <p:nvSpPr>
          <p:cNvPr id="20" name="Shape 18"/>
          <p:cNvSpPr/>
          <p:nvPr/>
        </p:nvSpPr>
        <p:spPr>
          <a:xfrm>
            <a:off x="8229600" y="4779264"/>
            <a:ext cx="3535680" cy="1609344"/>
          </a:xfrm>
          <a:prstGeom prst="roundRect">
            <a:avLst>
              <a:gd name="adj" fmla="val 6061"/>
            </a:avLst>
          </a:prstGeom>
          <a:solidFill>
            <a:srgbClr val="1A2840"/>
          </a:solidFill>
          <a:ln w="6350">
            <a:solidFill>
              <a:srgbClr val="4FC3F7"/>
            </a:solidFill>
            <a:prstDash val="solid"/>
          </a:ln>
        </p:spPr>
        <p:txBody>
          <a:bodyPr/>
          <a:lstStyle/>
          <a:p>
            <a:pPr defTabSz="1219170"/>
            <a:endParaRPr lang="en-IN" sz="2400">
              <a:solidFill>
                <a:prstClr val="black"/>
              </a:solidFill>
              <a:latin typeface="Calibri" panose="020F0502020204030204"/>
            </a:endParaRPr>
          </a:p>
        </p:txBody>
      </p:sp>
      <p:sp>
        <p:nvSpPr>
          <p:cNvPr id="21" name="Text 19"/>
          <p:cNvSpPr/>
          <p:nvPr/>
        </p:nvSpPr>
        <p:spPr>
          <a:xfrm>
            <a:off x="8412480" y="4925568"/>
            <a:ext cx="3169920" cy="426720"/>
          </a:xfrm>
          <a:prstGeom prst="rect">
            <a:avLst/>
          </a:prstGeom>
          <a:noFill/>
          <a:ln/>
        </p:spPr>
        <p:txBody>
          <a:bodyPr wrap="square" rtlCol="0" anchor="ctr"/>
          <a:lstStyle/>
          <a:p>
            <a:pPr defTabSz="1219170"/>
            <a:r>
              <a:rPr lang="en-US" sz="1467" b="1" dirty="0">
                <a:solidFill>
                  <a:srgbClr val="4FC3F7"/>
                </a:solidFill>
                <a:latin typeface="Calibri" pitchFamily="34" charset="0"/>
                <a:ea typeface="Calibri" pitchFamily="34" charset="-122"/>
                <a:cs typeface="Calibri" pitchFamily="34" charset="-120"/>
              </a:rPr>
              <a:t>Getting it right</a:t>
            </a:r>
            <a:endParaRPr lang="en-US" sz="1467" dirty="0">
              <a:solidFill>
                <a:prstClr val="black"/>
              </a:solidFill>
              <a:latin typeface="Calibri" panose="020F0502020204030204"/>
            </a:endParaRPr>
          </a:p>
        </p:txBody>
      </p:sp>
      <p:sp>
        <p:nvSpPr>
          <p:cNvPr id="22" name="Text 20"/>
          <p:cNvSpPr/>
          <p:nvPr/>
        </p:nvSpPr>
        <p:spPr>
          <a:xfrm>
            <a:off x="8412480" y="5255672"/>
            <a:ext cx="3169920" cy="914400"/>
          </a:xfrm>
          <a:prstGeom prst="rect">
            <a:avLst/>
          </a:prstGeom>
          <a:noFill/>
          <a:ln/>
        </p:spPr>
        <p:txBody>
          <a:bodyPr wrap="square" rtlCol="0" anchor="t"/>
          <a:lstStyle/>
          <a:p>
            <a:pPr algn="just" defTabSz="1219170"/>
            <a:r>
              <a:rPr lang="en-US" sz="1333" dirty="0">
                <a:solidFill>
                  <a:srgbClr val="8FA8C8"/>
                </a:solidFill>
                <a:latin typeface="Calibri" pitchFamily="34" charset="0"/>
                <a:ea typeface="Calibri" pitchFamily="34" charset="-122"/>
                <a:cs typeface="Calibri" pitchFamily="34" charset="-120"/>
              </a:rPr>
              <a:t>We use the trade's exchange timestamp, not arrival time. A 3-second watermark absorbs late messages. A 10-second idleness setting stops a quiet coin from freezing all windows.</a:t>
            </a:r>
            <a:endParaRPr lang="en-US" sz="1333" dirty="0">
              <a:solidFill>
                <a:prstClr val="black"/>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320"/>
        </a:solidFill>
        <a:effectLst/>
      </p:bgPr>
    </p:bg>
    <p:spTree>
      <p:nvGrpSpPr>
        <p:cNvPr id="1" name=""/>
        <p:cNvGrpSpPr/>
        <p:nvPr/>
      </p:nvGrpSpPr>
      <p:grpSpPr>
        <a:xfrm>
          <a:off x="0" y="0"/>
          <a:ext cx="0" cy="0"/>
          <a:chOff x="0" y="0"/>
          <a:chExt cx="0" cy="0"/>
        </a:xfrm>
      </p:grpSpPr>
      <p:sp>
        <p:nvSpPr>
          <p:cNvPr id="2" name="Text 0"/>
          <p:cNvSpPr/>
          <p:nvPr/>
        </p:nvSpPr>
        <p:spPr>
          <a:xfrm>
            <a:off x="670560" y="341376"/>
            <a:ext cx="2438400" cy="341376"/>
          </a:xfrm>
          <a:prstGeom prst="rect">
            <a:avLst/>
          </a:prstGeom>
          <a:noFill/>
        </p:spPr>
        <p:txBody>
          <a:bodyPr wrap="square" lIns="0" tIns="0" rIns="0" bIns="0" anchor="t">
            <a:spAutoFit/>
          </a:bodyPr>
          <a:lstStyle/>
          <a:p>
            <a:pPr>
              <a:spcAft>
                <a:spcPts val="600"/>
              </a:spcAft>
            </a:pPr>
            <a:r>
              <a:rPr lang="en-US" sz="1300" b="1" dirty="0">
                <a:solidFill>
                  <a:srgbClr val="2EE6A6"/>
                </a:solidFill>
                <a:latin typeface="Calibri"/>
              </a:rPr>
              <a:t>LIVE DEMO</a:t>
            </a:r>
          </a:p>
        </p:txBody>
      </p:sp>
      <p:sp>
        <p:nvSpPr>
          <p:cNvPr id="3" name="Text 1"/>
          <p:cNvSpPr/>
          <p:nvPr/>
        </p:nvSpPr>
        <p:spPr>
          <a:xfrm>
            <a:off x="670560" y="670560"/>
            <a:ext cx="10850880" cy="914400"/>
          </a:xfrm>
          <a:prstGeom prst="rect">
            <a:avLst/>
          </a:prstGeom>
          <a:noFill/>
          <a:ln/>
        </p:spPr>
        <p:txBody>
          <a:bodyPr wrap="square" rtlCol="0" anchor="ctr"/>
          <a:lstStyle/>
          <a:p>
            <a:pPr defTabSz="1219170"/>
            <a:r>
              <a:rPr lang="en-US" sz="3000" b="1" dirty="0">
                <a:solidFill>
                  <a:srgbClr val="FFFFFF"/>
                </a:solidFill>
                <a:latin typeface="Georgia" pitchFamily="34" charset="0"/>
                <a:ea typeface="Georgia" pitchFamily="34" charset="-122"/>
                <a:cs typeface="Georgia" pitchFamily="34" charset="-120"/>
              </a:rPr>
              <a:t>Let's watch it run</a:t>
            </a:r>
            <a:endParaRPr lang="en-US" sz="3000" dirty="0">
              <a:solidFill>
                <a:prstClr val="black"/>
              </a:solidFill>
              <a:latin typeface="Calibri" panose="020F0502020204030204"/>
            </a:endParaRPr>
          </a:p>
        </p:txBody>
      </p:sp>
      <p:sp>
        <p:nvSpPr>
          <p:cNvPr id="4" name="Shape 2"/>
          <p:cNvSpPr/>
          <p:nvPr/>
        </p:nvSpPr>
        <p:spPr>
          <a:xfrm>
            <a:off x="1398074" y="1520101"/>
            <a:ext cx="8829998" cy="668363"/>
          </a:xfrm>
          <a:prstGeom prst="roundRect">
            <a:avLst>
              <a:gd name="adj" fmla="val 11111"/>
            </a:avLst>
          </a:prstGeom>
          <a:solidFill>
            <a:srgbClr val="1A2840"/>
          </a:solidFill>
          <a:ln w="6350">
            <a:solidFill>
              <a:srgbClr val="00C896"/>
            </a:solidFill>
            <a:prstDash val="solid"/>
          </a:ln>
        </p:spPr>
        <p:txBody>
          <a:bodyPr/>
          <a:lstStyle/>
          <a:p>
            <a:pPr defTabSz="1219170"/>
            <a:endParaRPr lang="en-IN" sz="2400">
              <a:solidFill>
                <a:prstClr val="black"/>
              </a:solidFill>
              <a:latin typeface="Calibri" panose="020F0502020204030204"/>
            </a:endParaRPr>
          </a:p>
        </p:txBody>
      </p:sp>
      <p:sp>
        <p:nvSpPr>
          <p:cNvPr id="5" name="Shape 3"/>
          <p:cNvSpPr/>
          <p:nvPr/>
        </p:nvSpPr>
        <p:spPr>
          <a:xfrm>
            <a:off x="1544377" y="1628816"/>
            <a:ext cx="515074" cy="408444"/>
          </a:xfrm>
          <a:prstGeom prst="ellipse">
            <a:avLst/>
          </a:prstGeom>
          <a:solidFill>
            <a:srgbClr val="00C896"/>
          </a:solidFill>
          <a:ln w="12700">
            <a:solidFill>
              <a:srgbClr val="00C896"/>
            </a:solidFill>
            <a:prstDash val="solid"/>
          </a:ln>
        </p:spPr>
        <p:txBody>
          <a:bodyPr/>
          <a:lstStyle/>
          <a:p>
            <a:pPr defTabSz="1219170"/>
            <a:endParaRPr lang="en-IN" sz="2400">
              <a:solidFill>
                <a:prstClr val="black"/>
              </a:solidFill>
              <a:latin typeface="Calibri" panose="020F0502020204030204"/>
            </a:endParaRPr>
          </a:p>
        </p:txBody>
      </p:sp>
      <p:sp>
        <p:nvSpPr>
          <p:cNvPr id="6" name="Text 4"/>
          <p:cNvSpPr/>
          <p:nvPr/>
        </p:nvSpPr>
        <p:spPr>
          <a:xfrm>
            <a:off x="1544377" y="1617249"/>
            <a:ext cx="515074" cy="408444"/>
          </a:xfrm>
          <a:prstGeom prst="rect">
            <a:avLst/>
          </a:prstGeom>
          <a:noFill/>
          <a:ln/>
        </p:spPr>
        <p:txBody>
          <a:bodyPr wrap="square" rtlCol="0" anchor="ctr"/>
          <a:lstStyle/>
          <a:p>
            <a:pPr algn="ctr" defTabSz="1219170"/>
            <a:r>
              <a:rPr lang="en-US" sz="1867" b="1" dirty="0">
                <a:solidFill>
                  <a:srgbClr val="0D1320"/>
                </a:solidFill>
                <a:latin typeface="Calibri" pitchFamily="34" charset="0"/>
                <a:ea typeface="Calibri" pitchFamily="34" charset="-122"/>
                <a:cs typeface="Calibri" pitchFamily="34" charset="-120"/>
              </a:rPr>
              <a:t>1</a:t>
            </a:r>
            <a:endParaRPr lang="en-US" sz="1867" dirty="0">
              <a:solidFill>
                <a:prstClr val="black"/>
              </a:solidFill>
              <a:latin typeface="Calibri" panose="020F0502020204030204"/>
            </a:endParaRPr>
          </a:p>
        </p:txBody>
      </p:sp>
      <p:sp>
        <p:nvSpPr>
          <p:cNvPr id="7" name="Text 5"/>
          <p:cNvSpPr/>
          <p:nvPr/>
        </p:nvSpPr>
        <p:spPr>
          <a:xfrm>
            <a:off x="2202745" y="1670589"/>
            <a:ext cx="6438426" cy="324899"/>
          </a:xfrm>
          <a:prstGeom prst="rect">
            <a:avLst/>
          </a:prstGeom>
          <a:noFill/>
          <a:ln/>
        </p:spPr>
        <p:txBody>
          <a:bodyPr wrap="square" rtlCol="0" anchor="ctr"/>
          <a:lstStyle/>
          <a:p>
            <a:pPr defTabSz="1219170"/>
            <a:r>
              <a:rPr lang="en-US" sz="1467" b="1" dirty="0">
                <a:solidFill>
                  <a:srgbClr val="00C896"/>
                </a:solidFill>
                <a:latin typeface="Calibri" pitchFamily="34" charset="0"/>
                <a:ea typeface="Calibri" pitchFamily="34" charset="-122"/>
                <a:cs typeface="Calibri" pitchFamily="34" charset="-120"/>
              </a:rPr>
              <a:t>docker compose up -d --build</a:t>
            </a:r>
            <a:endParaRPr lang="en-US" sz="1467" dirty="0">
              <a:solidFill>
                <a:prstClr val="black"/>
              </a:solidFill>
              <a:latin typeface="Calibri" panose="020F0502020204030204"/>
            </a:endParaRPr>
          </a:p>
        </p:txBody>
      </p:sp>
      <p:sp>
        <p:nvSpPr>
          <p:cNvPr id="8" name="Text 6"/>
          <p:cNvSpPr/>
          <p:nvPr/>
        </p:nvSpPr>
        <p:spPr>
          <a:xfrm>
            <a:off x="6404844" y="1670589"/>
            <a:ext cx="3453337" cy="464141"/>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Six parts start together. Kafka and PostgreSQL pass health checks first.</a:t>
            </a:r>
            <a:endParaRPr lang="en-US" sz="1333" dirty="0">
              <a:solidFill>
                <a:prstClr val="black"/>
              </a:solidFill>
              <a:latin typeface="Calibri" panose="020F0502020204030204"/>
            </a:endParaRPr>
          </a:p>
        </p:txBody>
      </p:sp>
      <p:sp>
        <p:nvSpPr>
          <p:cNvPr id="9" name="Shape 7"/>
          <p:cNvSpPr/>
          <p:nvPr/>
        </p:nvSpPr>
        <p:spPr>
          <a:xfrm>
            <a:off x="1398074" y="2519845"/>
            <a:ext cx="8829998" cy="668363"/>
          </a:xfrm>
          <a:prstGeom prst="roundRect">
            <a:avLst>
              <a:gd name="adj" fmla="val 11111"/>
            </a:avLst>
          </a:prstGeom>
          <a:solidFill>
            <a:srgbClr val="1A2840"/>
          </a:solidFill>
          <a:ln w="6350">
            <a:solidFill>
              <a:srgbClr val="4FC3F7"/>
            </a:solidFill>
            <a:prstDash val="solid"/>
          </a:ln>
        </p:spPr>
        <p:txBody>
          <a:bodyPr/>
          <a:lstStyle/>
          <a:p>
            <a:pPr defTabSz="1219170"/>
            <a:endParaRPr lang="en-IN" sz="2400">
              <a:solidFill>
                <a:prstClr val="black"/>
              </a:solidFill>
              <a:latin typeface="Calibri" panose="020F0502020204030204"/>
            </a:endParaRPr>
          </a:p>
        </p:txBody>
      </p:sp>
      <p:sp>
        <p:nvSpPr>
          <p:cNvPr id="10" name="Shape 8"/>
          <p:cNvSpPr/>
          <p:nvPr/>
        </p:nvSpPr>
        <p:spPr>
          <a:xfrm>
            <a:off x="1544377" y="2616993"/>
            <a:ext cx="515074" cy="408444"/>
          </a:xfrm>
          <a:prstGeom prst="ellipse">
            <a:avLst/>
          </a:prstGeom>
          <a:solidFill>
            <a:srgbClr val="4FC3F7"/>
          </a:solidFill>
          <a:ln w="12700">
            <a:solidFill>
              <a:srgbClr val="4FC3F7"/>
            </a:solidFill>
            <a:prstDash val="solid"/>
          </a:ln>
        </p:spPr>
        <p:txBody>
          <a:bodyPr/>
          <a:lstStyle/>
          <a:p>
            <a:pPr defTabSz="1219170"/>
            <a:endParaRPr lang="en-IN" sz="2400">
              <a:solidFill>
                <a:prstClr val="black"/>
              </a:solidFill>
              <a:latin typeface="Calibri" panose="020F0502020204030204"/>
            </a:endParaRPr>
          </a:p>
        </p:txBody>
      </p:sp>
      <p:sp>
        <p:nvSpPr>
          <p:cNvPr id="11" name="Text 9"/>
          <p:cNvSpPr/>
          <p:nvPr/>
        </p:nvSpPr>
        <p:spPr>
          <a:xfrm>
            <a:off x="1544377" y="2616993"/>
            <a:ext cx="515074" cy="408444"/>
          </a:xfrm>
          <a:prstGeom prst="rect">
            <a:avLst/>
          </a:prstGeom>
          <a:noFill/>
          <a:ln/>
        </p:spPr>
        <p:txBody>
          <a:bodyPr wrap="square" rtlCol="0" anchor="ctr"/>
          <a:lstStyle/>
          <a:p>
            <a:pPr algn="ctr" defTabSz="1219170"/>
            <a:r>
              <a:rPr lang="en-US" sz="1867" b="1" dirty="0">
                <a:solidFill>
                  <a:srgbClr val="0D1320"/>
                </a:solidFill>
                <a:latin typeface="Calibri" pitchFamily="34" charset="0"/>
                <a:ea typeface="Calibri" pitchFamily="34" charset="-122"/>
                <a:cs typeface="Calibri" pitchFamily="34" charset="-120"/>
              </a:rPr>
              <a:t>2</a:t>
            </a:r>
            <a:endParaRPr lang="en-US" sz="1867" dirty="0">
              <a:solidFill>
                <a:prstClr val="black"/>
              </a:solidFill>
              <a:latin typeface="Calibri" panose="020F0502020204030204"/>
            </a:endParaRPr>
          </a:p>
        </p:txBody>
      </p:sp>
      <p:sp>
        <p:nvSpPr>
          <p:cNvPr id="12" name="Text 10"/>
          <p:cNvSpPr/>
          <p:nvPr/>
        </p:nvSpPr>
        <p:spPr>
          <a:xfrm>
            <a:off x="2202745" y="2670333"/>
            <a:ext cx="6438426" cy="324899"/>
          </a:xfrm>
          <a:prstGeom prst="rect">
            <a:avLst/>
          </a:prstGeom>
          <a:noFill/>
          <a:ln/>
        </p:spPr>
        <p:txBody>
          <a:bodyPr wrap="square" rtlCol="0" anchor="ctr"/>
          <a:lstStyle/>
          <a:p>
            <a:pPr defTabSz="1219170"/>
            <a:r>
              <a:rPr lang="en-US" sz="1467" b="1" dirty="0">
                <a:solidFill>
                  <a:srgbClr val="4FC3F7"/>
                </a:solidFill>
                <a:latin typeface="Calibri" pitchFamily="34" charset="0"/>
                <a:ea typeface="Calibri" pitchFamily="34" charset="-122"/>
                <a:cs typeface="Calibri" pitchFamily="34" charset="-120"/>
              </a:rPr>
              <a:t>http://localhost:3000  →  admin / admin</a:t>
            </a:r>
            <a:endParaRPr lang="en-US" sz="1467" dirty="0">
              <a:solidFill>
                <a:prstClr val="black"/>
              </a:solidFill>
              <a:latin typeface="Calibri" panose="020F0502020204030204"/>
            </a:endParaRPr>
          </a:p>
        </p:txBody>
      </p:sp>
      <p:sp>
        <p:nvSpPr>
          <p:cNvPr id="13" name="Text 11"/>
          <p:cNvSpPr/>
          <p:nvPr/>
        </p:nvSpPr>
        <p:spPr>
          <a:xfrm>
            <a:off x="6404844" y="2670333"/>
            <a:ext cx="3453337" cy="464141"/>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Dashboard auto-loads from provisioning files. Select DOGEUSDT from the dropdown.</a:t>
            </a:r>
            <a:endParaRPr lang="en-US" sz="1333" dirty="0">
              <a:solidFill>
                <a:prstClr val="black"/>
              </a:solidFill>
              <a:latin typeface="Calibri" panose="020F0502020204030204"/>
            </a:endParaRPr>
          </a:p>
        </p:txBody>
      </p:sp>
      <p:sp>
        <p:nvSpPr>
          <p:cNvPr id="14" name="Shape 12"/>
          <p:cNvSpPr/>
          <p:nvPr/>
        </p:nvSpPr>
        <p:spPr>
          <a:xfrm>
            <a:off x="1398074" y="3519589"/>
            <a:ext cx="8829998" cy="668363"/>
          </a:xfrm>
          <a:prstGeom prst="roundRect">
            <a:avLst>
              <a:gd name="adj" fmla="val 11111"/>
            </a:avLst>
          </a:prstGeom>
          <a:solidFill>
            <a:srgbClr val="1A2840"/>
          </a:solidFill>
          <a:ln w="6350">
            <a:solidFill>
              <a:srgbClr val="FFB300"/>
            </a:solidFill>
            <a:prstDash val="solid"/>
          </a:ln>
        </p:spPr>
        <p:txBody>
          <a:bodyPr/>
          <a:lstStyle/>
          <a:p>
            <a:pPr defTabSz="1219170"/>
            <a:endParaRPr lang="en-IN" sz="2400">
              <a:solidFill>
                <a:prstClr val="black"/>
              </a:solidFill>
              <a:latin typeface="Calibri" panose="020F0502020204030204"/>
            </a:endParaRPr>
          </a:p>
        </p:txBody>
      </p:sp>
      <p:sp>
        <p:nvSpPr>
          <p:cNvPr id="15" name="Shape 13"/>
          <p:cNvSpPr/>
          <p:nvPr/>
        </p:nvSpPr>
        <p:spPr>
          <a:xfrm>
            <a:off x="1542873" y="3610097"/>
            <a:ext cx="515074" cy="408444"/>
          </a:xfrm>
          <a:prstGeom prst="ellipse">
            <a:avLst/>
          </a:prstGeom>
          <a:solidFill>
            <a:srgbClr val="FFB300"/>
          </a:solidFill>
          <a:ln w="12700">
            <a:solidFill>
              <a:srgbClr val="FFB300"/>
            </a:solidFill>
            <a:prstDash val="solid"/>
          </a:ln>
        </p:spPr>
        <p:txBody>
          <a:bodyPr/>
          <a:lstStyle/>
          <a:p>
            <a:pPr defTabSz="1219170"/>
            <a:endParaRPr lang="en-IN" sz="2400">
              <a:solidFill>
                <a:prstClr val="black"/>
              </a:solidFill>
              <a:latin typeface="Calibri" panose="020F0502020204030204"/>
            </a:endParaRPr>
          </a:p>
        </p:txBody>
      </p:sp>
      <p:sp>
        <p:nvSpPr>
          <p:cNvPr id="16" name="Text 14"/>
          <p:cNvSpPr/>
          <p:nvPr/>
        </p:nvSpPr>
        <p:spPr>
          <a:xfrm>
            <a:off x="1544377" y="3616737"/>
            <a:ext cx="515074" cy="408444"/>
          </a:xfrm>
          <a:prstGeom prst="rect">
            <a:avLst/>
          </a:prstGeom>
          <a:noFill/>
          <a:ln/>
        </p:spPr>
        <p:txBody>
          <a:bodyPr wrap="square" rtlCol="0" anchor="ctr"/>
          <a:lstStyle/>
          <a:p>
            <a:pPr algn="ctr" defTabSz="1219170"/>
            <a:r>
              <a:rPr lang="en-US" sz="1867" b="1" dirty="0">
                <a:solidFill>
                  <a:srgbClr val="0D1320"/>
                </a:solidFill>
                <a:latin typeface="Calibri" pitchFamily="34" charset="0"/>
                <a:ea typeface="Calibri" pitchFamily="34" charset="-122"/>
                <a:cs typeface="Calibri" pitchFamily="34" charset="-120"/>
              </a:rPr>
              <a:t>3</a:t>
            </a:r>
            <a:endParaRPr lang="en-US" sz="1867" dirty="0">
              <a:solidFill>
                <a:prstClr val="black"/>
              </a:solidFill>
              <a:latin typeface="Calibri" panose="020F0502020204030204"/>
            </a:endParaRPr>
          </a:p>
        </p:txBody>
      </p:sp>
      <p:sp>
        <p:nvSpPr>
          <p:cNvPr id="17" name="Text 15"/>
          <p:cNvSpPr/>
          <p:nvPr/>
        </p:nvSpPr>
        <p:spPr>
          <a:xfrm>
            <a:off x="2202745" y="3670077"/>
            <a:ext cx="6438426" cy="324899"/>
          </a:xfrm>
          <a:prstGeom prst="rect">
            <a:avLst/>
          </a:prstGeom>
          <a:noFill/>
          <a:ln/>
        </p:spPr>
        <p:txBody>
          <a:bodyPr wrap="square" rtlCol="0" anchor="ctr"/>
          <a:lstStyle/>
          <a:p>
            <a:pPr defTabSz="1219170"/>
            <a:r>
              <a:rPr lang="en-US" sz="1467" b="1" dirty="0">
                <a:solidFill>
                  <a:srgbClr val="FFB300"/>
                </a:solidFill>
                <a:latin typeface="Calibri" pitchFamily="34" charset="0"/>
                <a:ea typeface="Calibri" pitchFamily="34" charset="-122"/>
                <a:cs typeface="Calibri" pitchFamily="34" charset="-120"/>
              </a:rPr>
              <a:t>Switch $symbol dropdown → DOGEUSDT</a:t>
            </a:r>
            <a:endParaRPr lang="en-US" sz="1467" dirty="0">
              <a:solidFill>
                <a:prstClr val="black"/>
              </a:solidFill>
              <a:latin typeface="Calibri" panose="020F0502020204030204"/>
            </a:endParaRPr>
          </a:p>
        </p:txBody>
      </p:sp>
      <p:sp>
        <p:nvSpPr>
          <p:cNvPr id="18" name="Text 16"/>
          <p:cNvSpPr/>
          <p:nvPr/>
        </p:nvSpPr>
        <p:spPr>
          <a:xfrm>
            <a:off x="6404844" y="3670077"/>
            <a:ext cx="3453337" cy="464141"/>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DOGE fires anomaly alerts fastest. Watch the red alert count climb.</a:t>
            </a:r>
            <a:endParaRPr lang="en-US" sz="1333" dirty="0">
              <a:solidFill>
                <a:prstClr val="black"/>
              </a:solidFill>
              <a:latin typeface="Calibri" panose="020F0502020204030204"/>
            </a:endParaRPr>
          </a:p>
        </p:txBody>
      </p:sp>
      <p:sp>
        <p:nvSpPr>
          <p:cNvPr id="19" name="Shape 17"/>
          <p:cNvSpPr/>
          <p:nvPr/>
        </p:nvSpPr>
        <p:spPr>
          <a:xfrm>
            <a:off x="1398074" y="4519333"/>
            <a:ext cx="8829998" cy="668363"/>
          </a:xfrm>
          <a:prstGeom prst="roundRect">
            <a:avLst>
              <a:gd name="adj" fmla="val 11111"/>
            </a:avLst>
          </a:prstGeom>
          <a:solidFill>
            <a:srgbClr val="1A2840"/>
          </a:solidFill>
          <a:ln w="6350">
            <a:solidFill>
              <a:srgbClr val="AB47BC"/>
            </a:solidFill>
            <a:prstDash val="solid"/>
          </a:ln>
        </p:spPr>
        <p:txBody>
          <a:bodyPr/>
          <a:lstStyle/>
          <a:p>
            <a:pPr defTabSz="1219170"/>
            <a:endParaRPr lang="en-IN" sz="2400">
              <a:solidFill>
                <a:prstClr val="black"/>
              </a:solidFill>
              <a:latin typeface="Calibri" panose="020F0502020204030204"/>
            </a:endParaRPr>
          </a:p>
        </p:txBody>
      </p:sp>
      <p:sp>
        <p:nvSpPr>
          <p:cNvPr id="20" name="Shape 18"/>
          <p:cNvSpPr/>
          <p:nvPr/>
        </p:nvSpPr>
        <p:spPr>
          <a:xfrm>
            <a:off x="1542873" y="4649292"/>
            <a:ext cx="515074" cy="408444"/>
          </a:xfrm>
          <a:prstGeom prst="ellipse">
            <a:avLst/>
          </a:prstGeom>
          <a:solidFill>
            <a:srgbClr val="AB47BC"/>
          </a:solidFill>
          <a:ln w="12700">
            <a:solidFill>
              <a:srgbClr val="AB47BC"/>
            </a:solidFill>
            <a:prstDash val="solid"/>
          </a:ln>
        </p:spPr>
        <p:txBody>
          <a:bodyPr/>
          <a:lstStyle/>
          <a:p>
            <a:pPr defTabSz="1219170"/>
            <a:endParaRPr lang="en-IN" sz="2400">
              <a:solidFill>
                <a:prstClr val="black"/>
              </a:solidFill>
              <a:latin typeface="Calibri" panose="020F0502020204030204"/>
            </a:endParaRPr>
          </a:p>
        </p:txBody>
      </p:sp>
      <p:sp>
        <p:nvSpPr>
          <p:cNvPr id="21" name="Text 19"/>
          <p:cNvSpPr/>
          <p:nvPr/>
        </p:nvSpPr>
        <p:spPr>
          <a:xfrm>
            <a:off x="1542873" y="4628048"/>
            <a:ext cx="515074" cy="408444"/>
          </a:xfrm>
          <a:prstGeom prst="rect">
            <a:avLst/>
          </a:prstGeom>
          <a:noFill/>
          <a:ln/>
        </p:spPr>
        <p:txBody>
          <a:bodyPr wrap="square" rtlCol="0" anchor="ctr"/>
          <a:lstStyle/>
          <a:p>
            <a:pPr algn="ctr" defTabSz="1219170"/>
            <a:r>
              <a:rPr lang="en-US" sz="1867" b="1" dirty="0">
                <a:solidFill>
                  <a:srgbClr val="0D1320"/>
                </a:solidFill>
                <a:latin typeface="Calibri" pitchFamily="34" charset="0"/>
                <a:ea typeface="Calibri" pitchFamily="34" charset="-122"/>
                <a:cs typeface="Calibri" pitchFamily="34" charset="-120"/>
              </a:rPr>
              <a:t>4</a:t>
            </a:r>
            <a:endParaRPr lang="en-US" sz="1867" dirty="0">
              <a:solidFill>
                <a:prstClr val="black"/>
              </a:solidFill>
              <a:latin typeface="Calibri" panose="020F0502020204030204"/>
            </a:endParaRPr>
          </a:p>
        </p:txBody>
      </p:sp>
      <p:sp>
        <p:nvSpPr>
          <p:cNvPr id="22" name="Text 20"/>
          <p:cNvSpPr/>
          <p:nvPr/>
        </p:nvSpPr>
        <p:spPr>
          <a:xfrm>
            <a:off x="2202745" y="4669821"/>
            <a:ext cx="6438426" cy="324899"/>
          </a:xfrm>
          <a:prstGeom prst="rect">
            <a:avLst/>
          </a:prstGeom>
          <a:noFill/>
          <a:ln/>
        </p:spPr>
        <p:txBody>
          <a:bodyPr wrap="square" rtlCol="0" anchor="ctr"/>
          <a:lstStyle/>
          <a:p>
            <a:pPr defTabSz="1219170"/>
            <a:r>
              <a:rPr lang="en-US" sz="1467" b="1" dirty="0">
                <a:solidFill>
                  <a:srgbClr val="AB47BC"/>
                </a:solidFill>
                <a:latin typeface="Calibri" pitchFamily="34" charset="0"/>
                <a:ea typeface="Calibri" pitchFamily="34" charset="-122"/>
                <a:cs typeface="Calibri" pitchFamily="34" charset="-120"/>
              </a:rPr>
              <a:t>Switch $candle_size → 1min or 5min</a:t>
            </a:r>
            <a:endParaRPr lang="en-US" sz="1467" dirty="0">
              <a:solidFill>
                <a:prstClr val="black"/>
              </a:solidFill>
              <a:latin typeface="Calibri" panose="020F0502020204030204"/>
            </a:endParaRPr>
          </a:p>
        </p:txBody>
      </p:sp>
      <p:sp>
        <p:nvSpPr>
          <p:cNvPr id="23" name="Text 21"/>
          <p:cNvSpPr/>
          <p:nvPr/>
        </p:nvSpPr>
        <p:spPr>
          <a:xfrm>
            <a:off x="6404844" y="4669821"/>
            <a:ext cx="3453337" cy="464141"/>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All panels update instantly — candlestick, volume bars, alerts table.</a:t>
            </a:r>
            <a:endParaRPr lang="en-US" sz="1333" dirty="0">
              <a:solidFill>
                <a:prstClr val="black"/>
              </a:solidFill>
              <a:latin typeface="Calibri" panose="020F0502020204030204"/>
            </a:endParaRPr>
          </a:p>
        </p:txBody>
      </p:sp>
      <p:sp>
        <p:nvSpPr>
          <p:cNvPr id="24" name="Shape 22"/>
          <p:cNvSpPr/>
          <p:nvPr/>
        </p:nvSpPr>
        <p:spPr>
          <a:xfrm>
            <a:off x="1398074" y="5519077"/>
            <a:ext cx="8829998" cy="668363"/>
          </a:xfrm>
          <a:prstGeom prst="roundRect">
            <a:avLst>
              <a:gd name="adj" fmla="val 11111"/>
            </a:avLst>
          </a:prstGeom>
          <a:solidFill>
            <a:srgbClr val="1A2840"/>
          </a:solidFill>
          <a:ln w="6350">
            <a:solidFill>
              <a:srgbClr val="26A69A"/>
            </a:solidFill>
            <a:prstDash val="solid"/>
          </a:ln>
        </p:spPr>
        <p:txBody>
          <a:bodyPr/>
          <a:lstStyle/>
          <a:p>
            <a:pPr defTabSz="1219170"/>
            <a:endParaRPr lang="en-IN" sz="2400">
              <a:solidFill>
                <a:prstClr val="black"/>
              </a:solidFill>
              <a:latin typeface="Calibri" panose="020F0502020204030204"/>
            </a:endParaRPr>
          </a:p>
        </p:txBody>
      </p:sp>
      <p:sp>
        <p:nvSpPr>
          <p:cNvPr id="25" name="Shape 23"/>
          <p:cNvSpPr/>
          <p:nvPr/>
        </p:nvSpPr>
        <p:spPr>
          <a:xfrm>
            <a:off x="1544377" y="5616225"/>
            <a:ext cx="515074" cy="408444"/>
          </a:xfrm>
          <a:prstGeom prst="ellipse">
            <a:avLst/>
          </a:prstGeom>
          <a:solidFill>
            <a:srgbClr val="26A69A"/>
          </a:solidFill>
          <a:ln w="12700">
            <a:solidFill>
              <a:srgbClr val="26A69A"/>
            </a:solidFill>
            <a:prstDash val="solid"/>
          </a:ln>
        </p:spPr>
        <p:txBody>
          <a:bodyPr/>
          <a:lstStyle/>
          <a:p>
            <a:pPr defTabSz="1219170"/>
            <a:endParaRPr lang="en-IN" sz="2400">
              <a:solidFill>
                <a:prstClr val="black"/>
              </a:solidFill>
              <a:latin typeface="Calibri" panose="020F0502020204030204"/>
            </a:endParaRPr>
          </a:p>
        </p:txBody>
      </p:sp>
      <p:sp>
        <p:nvSpPr>
          <p:cNvPr id="26" name="Text 24"/>
          <p:cNvSpPr/>
          <p:nvPr/>
        </p:nvSpPr>
        <p:spPr>
          <a:xfrm>
            <a:off x="1542873" y="5627792"/>
            <a:ext cx="515074" cy="408444"/>
          </a:xfrm>
          <a:prstGeom prst="rect">
            <a:avLst/>
          </a:prstGeom>
          <a:noFill/>
          <a:ln/>
        </p:spPr>
        <p:txBody>
          <a:bodyPr wrap="square" rtlCol="0" anchor="ctr"/>
          <a:lstStyle/>
          <a:p>
            <a:pPr algn="ctr" defTabSz="1219170"/>
            <a:r>
              <a:rPr lang="en-US" sz="1867" b="1" dirty="0">
                <a:solidFill>
                  <a:srgbClr val="0D1320"/>
                </a:solidFill>
                <a:latin typeface="Calibri" pitchFamily="34" charset="0"/>
                <a:ea typeface="Calibri" pitchFamily="34" charset="-122"/>
                <a:cs typeface="Calibri" pitchFamily="34" charset="-120"/>
              </a:rPr>
              <a:t>5</a:t>
            </a:r>
            <a:endParaRPr lang="en-US" sz="1867" dirty="0">
              <a:solidFill>
                <a:prstClr val="black"/>
              </a:solidFill>
              <a:latin typeface="Calibri" panose="020F0502020204030204"/>
            </a:endParaRPr>
          </a:p>
        </p:txBody>
      </p:sp>
      <p:sp>
        <p:nvSpPr>
          <p:cNvPr id="27" name="Text 25"/>
          <p:cNvSpPr/>
          <p:nvPr/>
        </p:nvSpPr>
        <p:spPr>
          <a:xfrm>
            <a:off x="2202745" y="5669565"/>
            <a:ext cx="6438426" cy="324899"/>
          </a:xfrm>
          <a:prstGeom prst="rect">
            <a:avLst/>
          </a:prstGeom>
          <a:noFill/>
          <a:ln/>
        </p:spPr>
        <p:txBody>
          <a:bodyPr wrap="square" rtlCol="0" anchor="ctr"/>
          <a:lstStyle/>
          <a:p>
            <a:pPr defTabSz="1219170"/>
            <a:r>
              <a:rPr lang="en-US" sz="1467" b="1" dirty="0">
                <a:solidFill>
                  <a:srgbClr val="26A69A"/>
                </a:solidFill>
                <a:latin typeface="Calibri" pitchFamily="34" charset="0"/>
                <a:ea typeface="Calibri" pitchFamily="34" charset="-122"/>
                <a:cs typeface="Calibri" pitchFamily="34" charset="-120"/>
              </a:rPr>
              <a:t>http://localhost:8080  →  Kafka UI</a:t>
            </a:r>
            <a:endParaRPr lang="en-US" sz="1467" dirty="0">
              <a:solidFill>
                <a:prstClr val="black"/>
              </a:solidFill>
              <a:latin typeface="Calibri" panose="020F0502020204030204"/>
            </a:endParaRPr>
          </a:p>
        </p:txBody>
      </p:sp>
      <p:sp>
        <p:nvSpPr>
          <p:cNvPr id="28" name="Text 26"/>
          <p:cNvSpPr/>
          <p:nvPr/>
        </p:nvSpPr>
        <p:spPr>
          <a:xfrm>
            <a:off x="6404844" y="5669565"/>
            <a:ext cx="3453337" cy="464141"/>
          </a:xfrm>
          <a:prstGeom prst="rect">
            <a:avLst/>
          </a:prstGeom>
          <a:noFill/>
          <a:ln/>
        </p:spPr>
        <p:txBody>
          <a:bodyPr wrap="square" rtlCol="0" anchor="t"/>
          <a:lstStyle/>
          <a:p>
            <a:pPr defTabSz="1219170"/>
            <a:r>
              <a:rPr lang="en-US" sz="1333" dirty="0">
                <a:solidFill>
                  <a:srgbClr val="8FA8C8"/>
                </a:solidFill>
                <a:latin typeface="Calibri" pitchFamily="34" charset="0"/>
                <a:ea typeface="Calibri" pitchFamily="34" charset="-122"/>
                <a:cs typeface="Calibri" pitchFamily="34" charset="-120"/>
              </a:rPr>
              <a:t>Shows raw-trades topic, 6 partitions, live messages flowing in real time.</a:t>
            </a:r>
            <a:endParaRPr lang="en-US" sz="1333" dirty="0">
              <a:solidFill>
                <a:prstClr val="black"/>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02920"/>
            <a:ext cx="10058400" cy="365760"/>
          </a:xfrm>
          <a:prstGeom prst="rect">
            <a:avLst/>
          </a:prstGeom>
          <a:noFill/>
        </p:spPr>
        <p:txBody>
          <a:bodyPr wrap="square" lIns="0" tIns="0" rIns="0" bIns="0" anchor="t">
            <a:spAutoFit/>
          </a:bodyPr>
          <a:lstStyle/>
          <a:p>
            <a:pPr algn="l">
              <a:lnSpc>
                <a:spcPct val="100000"/>
              </a:lnSpc>
              <a:spcBef>
                <a:spcPts val="0"/>
              </a:spcBef>
              <a:spcAft>
                <a:spcPts val="600"/>
              </a:spcAft>
            </a:pPr>
            <a:r>
              <a:rPr sz="1300" b="1" i="0" dirty="0">
                <a:solidFill>
                  <a:srgbClr val="2EE6A6"/>
                </a:solidFill>
                <a:latin typeface="Calibri"/>
              </a:rPr>
              <a:t>LESSONS LEARNED</a:t>
            </a:r>
          </a:p>
        </p:txBody>
      </p:sp>
      <p:sp>
        <p:nvSpPr>
          <p:cNvPr id="4" name="TextBox 3"/>
          <p:cNvSpPr txBox="1"/>
          <p:nvPr/>
        </p:nvSpPr>
        <p:spPr>
          <a:xfrm>
            <a:off x="777240" y="868680"/>
            <a:ext cx="10607040" cy="914400"/>
          </a:xfrm>
          <a:prstGeom prst="rect">
            <a:avLst/>
          </a:prstGeom>
          <a:noFill/>
        </p:spPr>
        <p:txBody>
          <a:bodyPr wrap="square" lIns="0" tIns="0" rIns="0" bIns="0" anchor="t">
            <a:spAutoFit/>
          </a:bodyPr>
          <a:lstStyle/>
          <a:p>
            <a:pPr algn="l">
              <a:lnSpc>
                <a:spcPct val="100000"/>
              </a:lnSpc>
              <a:spcBef>
                <a:spcPts val="0"/>
              </a:spcBef>
              <a:spcAft>
                <a:spcPts val="600"/>
              </a:spcAft>
            </a:pPr>
            <a:r>
              <a:rPr sz="3000" b="1" i="0">
                <a:solidFill>
                  <a:srgbClr val="FFFFFF"/>
                </a:solidFill>
                <a:latin typeface="Cambria"/>
              </a:rPr>
              <a:t>What worked, what was hard, what's next</a:t>
            </a:r>
          </a:p>
        </p:txBody>
      </p:sp>
      <p:sp>
        <p:nvSpPr>
          <p:cNvPr id="5" name="Rounded Rectangle 4"/>
          <p:cNvSpPr/>
          <p:nvPr/>
        </p:nvSpPr>
        <p:spPr>
          <a:xfrm>
            <a:off x="777240" y="1965960"/>
            <a:ext cx="3429000" cy="4023360"/>
          </a:xfrm>
          <a:prstGeom prst="roundRect">
            <a:avLst>
              <a:gd name="adj" fmla="val 6000"/>
            </a:avLst>
          </a:prstGeom>
          <a:solidFill>
            <a:srgbClr val="1A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194560"/>
            <a:ext cx="2880360" cy="457200"/>
          </a:xfrm>
          <a:prstGeom prst="rect">
            <a:avLst/>
          </a:prstGeom>
          <a:noFill/>
        </p:spPr>
        <p:txBody>
          <a:bodyPr wrap="square" lIns="0" tIns="0" rIns="0" bIns="0" anchor="t">
            <a:spAutoFit/>
          </a:bodyPr>
          <a:lstStyle/>
          <a:p>
            <a:pPr algn="l">
              <a:lnSpc>
                <a:spcPct val="100000"/>
              </a:lnSpc>
              <a:spcBef>
                <a:spcPts val="0"/>
              </a:spcBef>
              <a:spcAft>
                <a:spcPts val="600"/>
              </a:spcAft>
            </a:pPr>
            <a:r>
              <a:rPr sz="1700" b="1" i="0">
                <a:solidFill>
                  <a:srgbClr val="2EE6A6"/>
                </a:solidFill>
                <a:latin typeface="Cambria"/>
              </a:rPr>
              <a:t>Worked well</a:t>
            </a:r>
          </a:p>
        </p:txBody>
      </p:sp>
      <p:sp>
        <p:nvSpPr>
          <p:cNvPr id="7" name="TextBox 6"/>
          <p:cNvSpPr txBox="1"/>
          <p:nvPr/>
        </p:nvSpPr>
        <p:spPr>
          <a:xfrm>
            <a:off x="1051560" y="2880360"/>
            <a:ext cx="2926080" cy="2926080"/>
          </a:xfrm>
          <a:prstGeom prst="rect">
            <a:avLst/>
          </a:prstGeom>
          <a:noFill/>
        </p:spPr>
        <p:txBody>
          <a:bodyPr wrap="square" lIns="0" tIns="0" rIns="0" bIns="0" anchor="t">
            <a:spAutoFit/>
          </a:bodyPr>
          <a:lstStyle/>
          <a:p>
            <a:pPr algn="l">
              <a:lnSpc>
                <a:spcPct val="105000"/>
              </a:lnSpc>
              <a:spcBef>
                <a:spcPts val="0"/>
              </a:spcBef>
              <a:spcAft>
                <a:spcPts val="1000"/>
              </a:spcAft>
            </a:pPr>
            <a:r>
              <a:rPr sz="1350" b="0" i="0">
                <a:solidFill>
                  <a:srgbClr val="EAF0F8"/>
                </a:solidFill>
                <a:latin typeface="Calibri"/>
              </a:rPr>
              <a:t>•  Simple, well-known design (Kafka→Flink→DB→dashboard)</a:t>
            </a:r>
          </a:p>
          <a:p>
            <a:pPr algn="l">
              <a:lnSpc>
                <a:spcPct val="105000"/>
              </a:lnSpc>
              <a:spcBef>
                <a:spcPts val="0"/>
              </a:spcBef>
              <a:spcAft>
                <a:spcPts val="1000"/>
              </a:spcAft>
            </a:pPr>
            <a:r>
              <a:rPr sz="1350" b="0" i="0">
                <a:solidFill>
                  <a:srgbClr val="EAF0F8"/>
                </a:solidFill>
                <a:latin typeface="Calibri"/>
              </a:rPr>
              <a:t>•  One command starts everything — easy to try</a:t>
            </a:r>
          </a:p>
          <a:p>
            <a:pPr algn="l">
              <a:lnSpc>
                <a:spcPct val="105000"/>
              </a:lnSpc>
              <a:spcBef>
                <a:spcPts val="0"/>
              </a:spcBef>
              <a:spcAft>
                <a:spcPts val="1000"/>
              </a:spcAft>
            </a:pPr>
            <a:r>
              <a:rPr sz="1350" b="0" i="0">
                <a:solidFill>
                  <a:srgbClr val="EAF0F8"/>
                </a:solidFill>
                <a:latin typeface="Calibri"/>
              </a:rPr>
              <a:t>•  One lane per coin keeps data tidy and easy to scale</a:t>
            </a:r>
          </a:p>
        </p:txBody>
      </p:sp>
      <p:sp>
        <p:nvSpPr>
          <p:cNvPr id="8" name="Rounded Rectangle 7"/>
          <p:cNvSpPr/>
          <p:nvPr/>
        </p:nvSpPr>
        <p:spPr>
          <a:xfrm>
            <a:off x="4453127" y="1965960"/>
            <a:ext cx="3429000" cy="4023360"/>
          </a:xfrm>
          <a:prstGeom prst="roundRect">
            <a:avLst>
              <a:gd name="adj" fmla="val 6000"/>
            </a:avLst>
          </a:prstGeom>
          <a:solidFill>
            <a:srgbClr val="1A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27447" y="2194560"/>
            <a:ext cx="2880360" cy="457200"/>
          </a:xfrm>
          <a:prstGeom prst="rect">
            <a:avLst/>
          </a:prstGeom>
          <a:noFill/>
        </p:spPr>
        <p:txBody>
          <a:bodyPr wrap="square" lIns="0" tIns="0" rIns="0" bIns="0" anchor="t">
            <a:spAutoFit/>
          </a:bodyPr>
          <a:lstStyle/>
          <a:p>
            <a:pPr algn="l">
              <a:lnSpc>
                <a:spcPct val="100000"/>
              </a:lnSpc>
              <a:spcBef>
                <a:spcPts val="0"/>
              </a:spcBef>
              <a:spcAft>
                <a:spcPts val="600"/>
              </a:spcAft>
            </a:pPr>
            <a:r>
              <a:rPr sz="1700" b="1" i="0">
                <a:solidFill>
                  <a:srgbClr val="F2A93B"/>
                </a:solidFill>
                <a:latin typeface="Cambria"/>
              </a:rPr>
              <a:t>Was hard</a:t>
            </a:r>
          </a:p>
        </p:txBody>
      </p:sp>
      <p:sp>
        <p:nvSpPr>
          <p:cNvPr id="10" name="TextBox 9"/>
          <p:cNvSpPr txBox="1"/>
          <p:nvPr/>
        </p:nvSpPr>
        <p:spPr>
          <a:xfrm>
            <a:off x="4727447" y="2880360"/>
            <a:ext cx="2926080" cy="2926080"/>
          </a:xfrm>
          <a:prstGeom prst="rect">
            <a:avLst/>
          </a:prstGeom>
          <a:noFill/>
        </p:spPr>
        <p:txBody>
          <a:bodyPr wrap="square" lIns="0" tIns="0" rIns="0" bIns="0" anchor="t">
            <a:spAutoFit/>
          </a:bodyPr>
          <a:lstStyle/>
          <a:p>
            <a:pPr algn="l">
              <a:lnSpc>
                <a:spcPct val="105000"/>
              </a:lnSpc>
              <a:spcBef>
                <a:spcPts val="0"/>
              </a:spcBef>
              <a:spcAft>
                <a:spcPts val="1000"/>
              </a:spcAft>
            </a:pPr>
            <a:r>
              <a:rPr sz="1350" b="0" i="0">
                <a:solidFill>
                  <a:srgbClr val="EAF0F8"/>
                </a:solidFill>
                <a:latin typeface="Calibri"/>
              </a:rPr>
              <a:t>•  Parts start together, but Kafka needs a moment — had to wait</a:t>
            </a:r>
          </a:p>
          <a:p>
            <a:pPr algn="l">
              <a:lnSpc>
                <a:spcPct val="105000"/>
              </a:lnSpc>
              <a:spcBef>
                <a:spcPts val="0"/>
              </a:spcBef>
              <a:spcAft>
                <a:spcPts val="1000"/>
              </a:spcAft>
            </a:pPr>
            <a:r>
              <a:rPr sz="1350" b="0" i="0">
                <a:solidFill>
                  <a:srgbClr val="EAF0F8"/>
                </a:solidFill>
                <a:latin typeface="Calibri"/>
              </a:rPr>
              <a:t>•  A quiet coin froze the others until one setting fixed it</a:t>
            </a:r>
          </a:p>
          <a:p>
            <a:pPr algn="l">
              <a:lnSpc>
                <a:spcPct val="105000"/>
              </a:lnSpc>
              <a:spcBef>
                <a:spcPts val="0"/>
              </a:spcBef>
              <a:spcAft>
                <a:spcPts val="1000"/>
              </a:spcAft>
            </a:pPr>
            <a:r>
              <a:rPr sz="1350" b="0" i="0">
                <a:solidFill>
                  <a:srgbClr val="EAF0F8"/>
                </a:solidFill>
                <a:latin typeface="Calibri"/>
              </a:rPr>
              <a:t>•  Tuning the rules to show alerts fast in a short demo</a:t>
            </a:r>
          </a:p>
        </p:txBody>
      </p:sp>
      <p:sp>
        <p:nvSpPr>
          <p:cNvPr id="11" name="Rounded Rectangle 10"/>
          <p:cNvSpPr/>
          <p:nvPr/>
        </p:nvSpPr>
        <p:spPr>
          <a:xfrm>
            <a:off x="8129015" y="1965960"/>
            <a:ext cx="3429000" cy="4023360"/>
          </a:xfrm>
          <a:prstGeom prst="roundRect">
            <a:avLst>
              <a:gd name="adj" fmla="val 6000"/>
            </a:avLst>
          </a:prstGeom>
          <a:solidFill>
            <a:srgbClr val="1A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2194560"/>
            <a:ext cx="2880360" cy="457200"/>
          </a:xfrm>
          <a:prstGeom prst="rect">
            <a:avLst/>
          </a:prstGeom>
          <a:noFill/>
        </p:spPr>
        <p:txBody>
          <a:bodyPr wrap="square" lIns="0" tIns="0" rIns="0" bIns="0" anchor="t">
            <a:spAutoFit/>
          </a:bodyPr>
          <a:lstStyle/>
          <a:p>
            <a:pPr algn="l">
              <a:lnSpc>
                <a:spcPct val="100000"/>
              </a:lnSpc>
              <a:spcBef>
                <a:spcPts val="0"/>
              </a:spcBef>
              <a:spcAft>
                <a:spcPts val="600"/>
              </a:spcAft>
            </a:pPr>
            <a:r>
              <a:rPr sz="1700" b="1" i="0">
                <a:solidFill>
                  <a:srgbClr val="3B9EFF"/>
                </a:solidFill>
                <a:latin typeface="Cambria"/>
              </a:rPr>
              <a:t>Next</a:t>
            </a:r>
          </a:p>
        </p:txBody>
      </p:sp>
      <p:sp>
        <p:nvSpPr>
          <p:cNvPr id="13" name="TextBox 12"/>
          <p:cNvSpPr txBox="1"/>
          <p:nvPr/>
        </p:nvSpPr>
        <p:spPr>
          <a:xfrm>
            <a:off x="8403336" y="2880360"/>
            <a:ext cx="2926080" cy="1120243"/>
          </a:xfrm>
          <a:prstGeom prst="rect">
            <a:avLst/>
          </a:prstGeom>
          <a:noFill/>
        </p:spPr>
        <p:txBody>
          <a:bodyPr wrap="square" lIns="0" tIns="0" rIns="0" bIns="0" anchor="t">
            <a:spAutoFit/>
          </a:bodyPr>
          <a:lstStyle/>
          <a:p>
            <a:pPr>
              <a:lnSpc>
                <a:spcPct val="105000"/>
              </a:lnSpc>
              <a:spcAft>
                <a:spcPts val="1000"/>
              </a:spcAft>
            </a:pPr>
            <a:r>
              <a:rPr lang="en-IN" sz="1350" dirty="0">
                <a:solidFill>
                  <a:srgbClr val="EAF0F8"/>
                </a:solidFill>
              </a:rPr>
              <a:t>• </a:t>
            </a:r>
            <a:r>
              <a:rPr sz="1350" dirty="0">
                <a:solidFill>
                  <a:srgbClr val="EAF0F8"/>
                </a:solidFill>
                <a:latin typeface="Calibri"/>
              </a:rPr>
              <a:t>Use Flink SQL to write less code</a:t>
            </a:r>
          </a:p>
          <a:p>
            <a:pPr algn="l">
              <a:lnSpc>
                <a:spcPct val="105000"/>
              </a:lnSpc>
              <a:spcBef>
                <a:spcPts val="0"/>
              </a:spcBef>
              <a:spcAft>
                <a:spcPts val="1000"/>
              </a:spcAft>
            </a:pPr>
            <a:r>
              <a:rPr sz="1350" b="0" i="0" dirty="0">
                <a:solidFill>
                  <a:srgbClr val="EAF0F8"/>
                </a:solidFill>
                <a:latin typeface="Calibri"/>
              </a:rPr>
              <a:t>•  Run on a bigger cluster for more coins</a:t>
            </a:r>
          </a:p>
          <a:p>
            <a:pPr algn="l">
              <a:lnSpc>
                <a:spcPct val="105000"/>
              </a:lnSpc>
              <a:spcBef>
                <a:spcPts val="0"/>
              </a:spcBef>
              <a:spcAft>
                <a:spcPts val="1000"/>
              </a:spcAft>
            </a:pPr>
            <a:r>
              <a:rPr sz="1350" b="0" i="0" dirty="0">
                <a:solidFill>
                  <a:srgbClr val="EAF0F8"/>
                </a:solidFill>
                <a:latin typeface="Calibri"/>
              </a:rPr>
              <a:t>•  Let it learn each coin's 'normal' automatically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286000"/>
            <a:ext cx="10607040" cy="1097280"/>
          </a:xfrm>
          <a:prstGeom prst="rect">
            <a:avLst/>
          </a:prstGeom>
          <a:noFill/>
        </p:spPr>
        <p:txBody>
          <a:bodyPr wrap="square" lIns="0" tIns="0" rIns="0" bIns="0" anchor="t">
            <a:spAutoFit/>
          </a:bodyPr>
          <a:lstStyle/>
          <a:p>
            <a:pPr algn="l">
              <a:lnSpc>
                <a:spcPct val="100000"/>
              </a:lnSpc>
              <a:spcBef>
                <a:spcPts val="0"/>
              </a:spcBef>
              <a:spcAft>
                <a:spcPts val="600"/>
              </a:spcAft>
            </a:pPr>
            <a:r>
              <a:rPr sz="4600" b="1" i="0">
                <a:solidFill>
                  <a:srgbClr val="FFFFFF"/>
                </a:solidFill>
                <a:latin typeface="Cambria"/>
              </a:rPr>
              <a:t>Thank you</a:t>
            </a:r>
          </a:p>
        </p:txBody>
      </p:sp>
      <p:sp>
        <p:nvSpPr>
          <p:cNvPr id="4" name="TextBox 3"/>
          <p:cNvSpPr txBox="1"/>
          <p:nvPr/>
        </p:nvSpPr>
        <p:spPr>
          <a:xfrm>
            <a:off x="777240" y="3474720"/>
            <a:ext cx="10607040" cy="640080"/>
          </a:xfrm>
          <a:prstGeom prst="rect">
            <a:avLst/>
          </a:prstGeom>
          <a:noFill/>
        </p:spPr>
        <p:txBody>
          <a:bodyPr wrap="square" lIns="0" tIns="0" rIns="0" bIns="0" anchor="t">
            <a:spAutoFit/>
          </a:bodyPr>
          <a:lstStyle/>
          <a:p>
            <a:pPr algn="l">
              <a:lnSpc>
                <a:spcPct val="100000"/>
              </a:lnSpc>
              <a:spcBef>
                <a:spcPts val="0"/>
              </a:spcBef>
              <a:spcAft>
                <a:spcPts val="600"/>
              </a:spcAft>
            </a:pPr>
            <a:r>
              <a:rPr sz="1800" b="0" i="1">
                <a:solidFill>
                  <a:srgbClr val="2EE6A6"/>
                </a:solidFill>
                <a:latin typeface="Calibri"/>
              </a:rPr>
              <a:t>Live crypto trades → cheating alerts on a dashboard, in seconds — started with one command.</a:t>
            </a:r>
          </a:p>
        </p:txBody>
      </p:sp>
      <p:sp>
        <p:nvSpPr>
          <p:cNvPr id="5" name="Rounded Rectangle 4"/>
          <p:cNvSpPr/>
          <p:nvPr/>
        </p:nvSpPr>
        <p:spPr>
          <a:xfrm>
            <a:off x="777240" y="4572000"/>
            <a:ext cx="10607040" cy="1188720"/>
          </a:xfrm>
          <a:prstGeom prst="roundRect">
            <a:avLst>
              <a:gd name="adj" fmla="val 6000"/>
            </a:avLst>
          </a:prstGeom>
          <a:solidFill>
            <a:srgbClr val="1A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5043249"/>
            <a:ext cx="10058400" cy="246221"/>
          </a:xfrm>
          <a:prstGeom prst="rect">
            <a:avLst/>
          </a:prstGeom>
          <a:noFill/>
        </p:spPr>
        <p:txBody>
          <a:bodyPr wrap="square" lIns="0" tIns="0" rIns="0" bIns="0" anchor="ctr">
            <a:spAutoFit/>
          </a:bodyPr>
          <a:lstStyle/>
          <a:p>
            <a:pPr algn="l">
              <a:lnSpc>
                <a:spcPct val="100000"/>
              </a:lnSpc>
              <a:spcBef>
                <a:spcPts val="0"/>
              </a:spcBef>
              <a:spcAft>
                <a:spcPts val="600"/>
              </a:spcAft>
            </a:pPr>
            <a:r>
              <a:rPr sz="1600" b="1" i="0" dirty="0">
                <a:solidFill>
                  <a:srgbClr val="EAF0F8"/>
                </a:solidFill>
                <a:latin typeface="Calibri"/>
              </a:rPr>
              <a:t>Kodanda Challa</a:t>
            </a:r>
            <a:r>
              <a:rPr sz="1600" b="0" i="0" dirty="0">
                <a:solidFill>
                  <a:srgbClr val="9AA8BD"/>
                </a:solidFill>
                <a:latin typeface="Calibri"/>
              </a:rPr>
              <a:t>    ·    Real-Time Big Data Processing 2025–2026</a:t>
            </a:r>
          </a:p>
        </p:txBody>
      </p:sp>
      <p:sp>
        <p:nvSpPr>
          <p:cNvPr id="7" name="TextBox 6"/>
          <p:cNvSpPr txBox="1"/>
          <p:nvPr/>
        </p:nvSpPr>
        <p:spPr>
          <a:xfrm>
            <a:off x="777240" y="6035040"/>
            <a:ext cx="10607040" cy="457200"/>
          </a:xfrm>
          <a:prstGeom prst="rect">
            <a:avLst/>
          </a:prstGeom>
          <a:noFill/>
        </p:spPr>
        <p:txBody>
          <a:bodyPr wrap="square" lIns="0" tIns="0" rIns="0" bIns="0" anchor="t">
            <a:spAutoFit/>
          </a:bodyPr>
          <a:lstStyle/>
          <a:p>
            <a:pPr algn="l">
              <a:lnSpc>
                <a:spcPct val="100000"/>
              </a:lnSpc>
              <a:spcBef>
                <a:spcPts val="0"/>
              </a:spcBef>
              <a:spcAft>
                <a:spcPts val="600"/>
              </a:spcAft>
            </a:pPr>
            <a:r>
              <a:rPr sz="1500" b="0" i="1">
                <a:solidFill>
                  <a:srgbClr val="9AA8BD"/>
                </a:solidFill>
                <a:latin typeface="Calibri"/>
              </a:rPr>
              <a:t>Questions welcome.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320"/>
        </a:solidFill>
        <a:effectLst/>
      </p:bgPr>
    </p:bg>
    <p:spTree>
      <p:nvGrpSpPr>
        <p:cNvPr id="1" name=""/>
        <p:cNvGrpSpPr/>
        <p:nvPr/>
      </p:nvGrpSpPr>
      <p:grpSpPr>
        <a:xfrm>
          <a:off x="0" y="0"/>
          <a:ext cx="0" cy="0"/>
          <a:chOff x="0" y="0"/>
          <a:chExt cx="0" cy="0"/>
        </a:xfrm>
      </p:grpSpPr>
      <p:sp>
        <p:nvSpPr>
          <p:cNvPr id="2" name="Text 0"/>
          <p:cNvSpPr/>
          <p:nvPr/>
        </p:nvSpPr>
        <p:spPr>
          <a:xfrm>
            <a:off x="670560" y="475870"/>
            <a:ext cx="2438400" cy="200055"/>
          </a:xfrm>
          <a:prstGeom prst="rect">
            <a:avLst/>
          </a:prstGeom>
          <a:noFill/>
        </p:spPr>
        <p:txBody>
          <a:bodyPr wrap="square" lIns="0" tIns="0" rIns="0" bIns="0" anchor="t">
            <a:spAutoFit/>
          </a:bodyPr>
          <a:lstStyle/>
          <a:p>
            <a:pPr>
              <a:spcAft>
                <a:spcPts val="600"/>
              </a:spcAft>
            </a:pPr>
            <a:r>
              <a:rPr lang="en-US" sz="1300" b="1" dirty="0">
                <a:solidFill>
                  <a:srgbClr val="2EE6A6"/>
                </a:solidFill>
                <a:latin typeface="Calibri"/>
              </a:rPr>
              <a:t>HOW IT FITS TOGETHER</a:t>
            </a:r>
          </a:p>
        </p:txBody>
      </p:sp>
      <p:sp>
        <p:nvSpPr>
          <p:cNvPr id="3" name="Text 1"/>
          <p:cNvSpPr/>
          <p:nvPr/>
        </p:nvSpPr>
        <p:spPr>
          <a:xfrm>
            <a:off x="670560" y="548640"/>
            <a:ext cx="10850880" cy="914400"/>
          </a:xfrm>
          <a:prstGeom prst="rect">
            <a:avLst/>
          </a:prstGeom>
          <a:noFill/>
          <a:ln/>
        </p:spPr>
        <p:txBody>
          <a:bodyPr wrap="square" rtlCol="0" anchor="ctr"/>
          <a:lstStyle/>
          <a:p>
            <a:pPr defTabSz="1219170"/>
            <a:r>
              <a:rPr lang="en-US" sz="3000" b="1" dirty="0">
                <a:solidFill>
                  <a:srgbClr val="FFFFFF"/>
                </a:solidFill>
                <a:latin typeface="Georgia" pitchFamily="34" charset="0"/>
                <a:ea typeface="Georgia" pitchFamily="34" charset="-122"/>
                <a:cs typeface="Georgia" pitchFamily="34" charset="-120"/>
              </a:rPr>
              <a:t>The architecture</a:t>
            </a:r>
            <a:endParaRPr lang="en-US" sz="3000" dirty="0">
              <a:solidFill>
                <a:prstClr val="black"/>
              </a:solidFill>
              <a:latin typeface="Calibri" panose="020F0502020204030204"/>
            </a:endParaRPr>
          </a:p>
        </p:txBody>
      </p:sp>
      <p:sp>
        <p:nvSpPr>
          <p:cNvPr id="4" name="Text 2"/>
          <p:cNvSpPr/>
          <p:nvPr/>
        </p:nvSpPr>
        <p:spPr>
          <a:xfrm>
            <a:off x="670560" y="1170050"/>
            <a:ext cx="10972800" cy="365760"/>
          </a:xfrm>
          <a:prstGeom prst="rect">
            <a:avLst/>
          </a:prstGeom>
          <a:noFill/>
          <a:ln/>
        </p:spPr>
        <p:txBody>
          <a:bodyPr wrap="square" rtlCol="0" anchor="t"/>
          <a:lstStyle/>
          <a:p>
            <a:pPr defTabSz="1219170"/>
            <a:r>
              <a:rPr lang="en-US" sz="1600" dirty="0">
                <a:solidFill>
                  <a:srgbClr val="8FA8C8"/>
                </a:solidFill>
                <a:latin typeface="Calibri" pitchFamily="34" charset="0"/>
                <a:ea typeface="Calibri" pitchFamily="34" charset="-122"/>
                <a:cs typeface="Calibri" pitchFamily="34" charset="-120"/>
              </a:rPr>
              <a:t>Standard course shape: collect → Kafka → Flink → database → dashboard. Every box is one Docker container.</a:t>
            </a:r>
            <a:endParaRPr lang="en-US" sz="1600" dirty="0">
              <a:solidFill>
                <a:prstClr val="black"/>
              </a:solidFill>
              <a:latin typeface="Calibri" panose="020F0502020204030204"/>
            </a:endParaRPr>
          </a:p>
        </p:txBody>
      </p:sp>
      <p:pic>
        <p:nvPicPr>
          <p:cNvPr id="7" name="Picture 6">
            <a:extLst>
              <a:ext uri="{FF2B5EF4-FFF2-40B4-BE49-F238E27FC236}">
                <a16:creationId xmlns:a16="http://schemas.microsoft.com/office/drawing/2014/main" id="{40D73995-2E57-AC50-BE53-88E39F329590}"/>
              </a:ext>
            </a:extLst>
          </p:cNvPr>
          <p:cNvPicPr>
            <a:picLocks noChangeAspect="1"/>
          </p:cNvPicPr>
          <p:nvPr/>
        </p:nvPicPr>
        <p:blipFill>
          <a:blip r:embed="rId3"/>
          <a:stretch>
            <a:fillRect/>
          </a:stretch>
        </p:blipFill>
        <p:spPr>
          <a:xfrm>
            <a:off x="2406546" y="1535809"/>
            <a:ext cx="7378907" cy="52165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360</TotalTime>
  <Words>2566</Words>
  <Application>Microsoft Office PowerPoint</Application>
  <PresentationFormat>Widescreen</PresentationFormat>
  <Paragraphs>208</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Calibri</vt:lpstr>
      <vt:lpstr>Cambria</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Challa Kodanda (Student ENG 25)</dc:creator>
  <cp:keywords/>
  <dc:description>generated using python-pptx</dc:description>
  <cp:lastModifiedBy>Challa Kodanda (Student ENG 25)</cp:lastModifiedBy>
  <cp:revision>33</cp:revision>
  <dcterms:created xsi:type="dcterms:W3CDTF">2013-01-27T09:14:16Z</dcterms:created>
  <dcterms:modified xsi:type="dcterms:W3CDTF">2026-06-30T11:33:30Z</dcterms:modified>
  <cp:category/>
</cp:coreProperties>
</file>